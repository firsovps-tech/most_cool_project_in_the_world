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jpeg" ContentType="image/jpeg"/>
  <Override PartName="/ppt/media/image15.jpeg" ContentType="image/jpeg"/>
  <Override PartName="/ppt/media/image14.png" ContentType="image/png"/>
  <Override PartName="/ppt/media/image1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10.jpeg" ContentType="image/jpeg"/>
  <Override PartName="/ppt/media/image9.png" ContentType="image/png"/>
  <Override PartName="/ppt/media/image7.jpeg" ContentType="image/jpe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B97472-4764-4320-B283-8007F7B0C0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AAC774-7D00-4863-9C7B-5A4F98BE9B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86F5683-4ED7-4C67-BC85-587761204B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FDC0492-C4E9-4DE0-A29E-66FB294B0D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 descr="title_furniture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3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38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2700000" y="1620000"/>
            <a:ext cx="10057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Поиск аналогов товаров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2160000" y="3420000"/>
            <a:ext cx="69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От запроса пользователя к метрикам nDCG и LLM-судье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7"/>
          <p:cNvSpPr/>
          <p:nvPr/>
        </p:nvSpPr>
        <p:spPr>
          <a:xfrm>
            <a:off x="5141160" y="4498920"/>
            <a:ext cx="229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685800" y="640080"/>
            <a:ext cx="100576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Содержание</a:t>
            </a:r>
            <a:endParaRPr b="0" lang="ru-RU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Oval 3"/>
          <p:cNvSpPr/>
          <p:nvPr/>
        </p:nvSpPr>
        <p:spPr>
          <a:xfrm>
            <a:off x="777240" y="18288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870840" y="188352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1980000" y="1874520"/>
            <a:ext cx="3588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Постановка задачи и данные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Oval 6"/>
          <p:cNvSpPr/>
          <p:nvPr/>
        </p:nvSpPr>
        <p:spPr>
          <a:xfrm>
            <a:off x="777240" y="278892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" name="TextBox 7"/>
          <p:cNvSpPr/>
          <p:nvPr/>
        </p:nvSpPr>
        <p:spPr>
          <a:xfrm>
            <a:off x="870840" y="284364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2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Box 8"/>
          <p:cNvSpPr/>
          <p:nvPr/>
        </p:nvSpPr>
        <p:spPr>
          <a:xfrm>
            <a:off x="1980000" y="2815200"/>
            <a:ext cx="3320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Работа команды: 3 группы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Oval 9"/>
          <p:cNvSpPr/>
          <p:nvPr/>
        </p:nvSpPr>
        <p:spPr>
          <a:xfrm>
            <a:off x="777240" y="374904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" name="TextBox 10"/>
          <p:cNvSpPr/>
          <p:nvPr/>
        </p:nvSpPr>
        <p:spPr>
          <a:xfrm>
            <a:off x="870840" y="380376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3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11"/>
          <p:cNvSpPr/>
          <p:nvPr/>
        </p:nvSpPr>
        <p:spPr>
          <a:xfrm>
            <a:off x="2005920" y="3780000"/>
            <a:ext cx="2853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Поиск на эмбеддингах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12"/>
          <p:cNvSpPr/>
          <p:nvPr/>
        </p:nvSpPr>
        <p:spPr>
          <a:xfrm>
            <a:off x="777240" y="470916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" name="TextBox 13"/>
          <p:cNvSpPr/>
          <p:nvPr/>
        </p:nvSpPr>
        <p:spPr>
          <a:xfrm>
            <a:off x="870840" y="47638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4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Box 14"/>
          <p:cNvSpPr/>
          <p:nvPr/>
        </p:nvSpPr>
        <p:spPr>
          <a:xfrm>
            <a:off x="1971360" y="4680000"/>
            <a:ext cx="3428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Оценка качества и метрики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Oval 15"/>
          <p:cNvSpPr/>
          <p:nvPr/>
        </p:nvSpPr>
        <p:spPr>
          <a:xfrm>
            <a:off x="777240" y="566928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" name="TextBox 16"/>
          <p:cNvSpPr/>
          <p:nvPr/>
        </p:nvSpPr>
        <p:spPr>
          <a:xfrm>
            <a:off x="870840" y="572400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5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17"/>
          <p:cNvSpPr/>
          <p:nvPr/>
        </p:nvSpPr>
        <p:spPr>
          <a:xfrm>
            <a:off x="1980000" y="5695200"/>
            <a:ext cx="3451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Золотой стандарт и выводы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Box 20"/>
          <p:cNvSpPr/>
          <p:nvPr/>
        </p:nvSpPr>
        <p:spPr>
          <a:xfrm>
            <a:off x="4804200" y="6419160"/>
            <a:ext cx="255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                                                                                   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0"/>
          <p:cNvSpPr/>
          <p:nvPr/>
        </p:nvSpPr>
        <p:spPr>
          <a:xfrm>
            <a:off x="685800" y="640080"/>
            <a:ext cx="100576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Содержание</a:t>
            </a:r>
            <a:endParaRPr b="0" lang="ru-RU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Box 31"/>
          <p:cNvSpPr/>
          <p:nvPr/>
        </p:nvSpPr>
        <p:spPr>
          <a:xfrm>
            <a:off x="685800" y="640080"/>
            <a:ext cx="100576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Содержание</a:t>
            </a:r>
            <a:endParaRPr b="0" lang="ru-RU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5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" name="TextBox 25"/>
          <p:cNvSpPr/>
          <p:nvPr/>
        </p:nvSpPr>
        <p:spPr>
          <a:xfrm>
            <a:off x="757800" y="20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                                        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Наша команда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26"/>
          <p:cNvSpPr/>
          <p:nvPr/>
        </p:nvSpPr>
        <p:spPr>
          <a:xfrm>
            <a:off x="5296680" y="550440"/>
            <a:ext cx="1922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TextBox 28"/>
          <p:cNvSpPr/>
          <p:nvPr/>
        </p:nvSpPr>
        <p:spPr>
          <a:xfrm>
            <a:off x="9598680" y="550440"/>
            <a:ext cx="1922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TextBox 27"/>
          <p:cNvSpPr/>
          <p:nvPr/>
        </p:nvSpPr>
        <p:spPr>
          <a:xfrm>
            <a:off x="4733280" y="2957760"/>
            <a:ext cx="19220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TextBox 29"/>
          <p:cNvSpPr/>
          <p:nvPr/>
        </p:nvSpPr>
        <p:spPr>
          <a:xfrm>
            <a:off x="9598680" y="3756960"/>
            <a:ext cx="19220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522080" y="974520"/>
            <a:ext cx="8832240" cy="58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TextBox 32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Oval 10"/>
          <p:cNvSpPr/>
          <p:nvPr/>
        </p:nvSpPr>
        <p:spPr>
          <a:xfrm>
            <a:off x="803520" y="116352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TextBox 33"/>
          <p:cNvSpPr/>
          <p:nvPr/>
        </p:nvSpPr>
        <p:spPr>
          <a:xfrm>
            <a:off x="900000" y="12250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Oval 11"/>
          <p:cNvSpPr/>
          <p:nvPr/>
        </p:nvSpPr>
        <p:spPr>
          <a:xfrm>
            <a:off x="793440" y="211464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TextBox 35"/>
          <p:cNvSpPr/>
          <p:nvPr/>
        </p:nvSpPr>
        <p:spPr>
          <a:xfrm>
            <a:off x="900000" y="216000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2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6"/>
          <p:cNvSpPr/>
          <p:nvPr/>
        </p:nvSpPr>
        <p:spPr>
          <a:xfrm>
            <a:off x="1620000" y="2095200"/>
            <a:ext cx="3119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Патеев Ильнур  (МФТИ)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Oval 13"/>
          <p:cNvSpPr/>
          <p:nvPr/>
        </p:nvSpPr>
        <p:spPr>
          <a:xfrm>
            <a:off x="803520" y="30600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TextBox 37"/>
          <p:cNvSpPr/>
          <p:nvPr/>
        </p:nvSpPr>
        <p:spPr>
          <a:xfrm>
            <a:off x="900000" y="31168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3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38"/>
          <p:cNvSpPr/>
          <p:nvPr/>
        </p:nvSpPr>
        <p:spPr>
          <a:xfrm>
            <a:off x="1620000" y="3060000"/>
            <a:ext cx="2895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Рашева Анна  (МФТИ)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Oval 14"/>
          <p:cNvSpPr/>
          <p:nvPr/>
        </p:nvSpPr>
        <p:spPr>
          <a:xfrm>
            <a:off x="803520" y="48600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" name="TextBox 39"/>
          <p:cNvSpPr/>
          <p:nvPr/>
        </p:nvSpPr>
        <p:spPr>
          <a:xfrm>
            <a:off x="900000" y="49168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5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40"/>
          <p:cNvSpPr/>
          <p:nvPr/>
        </p:nvSpPr>
        <p:spPr>
          <a:xfrm>
            <a:off x="1620000" y="4860000"/>
            <a:ext cx="277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Фирсов Павел (ВШЭ)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41"/>
          <p:cNvSpPr/>
          <p:nvPr/>
        </p:nvSpPr>
        <p:spPr>
          <a:xfrm>
            <a:off x="870840" y="572400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5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42"/>
          <p:cNvSpPr/>
          <p:nvPr/>
        </p:nvSpPr>
        <p:spPr>
          <a:xfrm>
            <a:off x="3207960" y="5695200"/>
            <a:ext cx="319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" name="TextBox 43"/>
          <p:cNvSpPr/>
          <p:nvPr/>
        </p:nvSpPr>
        <p:spPr>
          <a:xfrm>
            <a:off x="4804200" y="6419160"/>
            <a:ext cx="255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                                                                                   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44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TextBox 45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" name="TextBox 46"/>
          <p:cNvSpPr/>
          <p:nvPr/>
        </p:nvSpPr>
        <p:spPr>
          <a:xfrm>
            <a:off x="5040000" y="360000"/>
            <a:ext cx="1470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Участники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63"/>
          <p:cNvSpPr/>
          <p:nvPr/>
        </p:nvSpPr>
        <p:spPr>
          <a:xfrm>
            <a:off x="900000" y="12250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65"/>
          <p:cNvSpPr/>
          <p:nvPr/>
        </p:nvSpPr>
        <p:spPr>
          <a:xfrm>
            <a:off x="1620000" y="1195200"/>
            <a:ext cx="4404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Баженова Маргарита   (Иннополис)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34"/>
          <p:cNvSpPr/>
          <p:nvPr/>
        </p:nvSpPr>
        <p:spPr>
          <a:xfrm>
            <a:off x="829800" y="565236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Oval 17"/>
          <p:cNvSpPr/>
          <p:nvPr/>
        </p:nvSpPr>
        <p:spPr>
          <a:xfrm>
            <a:off x="803520" y="57600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" name="TextBox 62"/>
          <p:cNvSpPr/>
          <p:nvPr/>
        </p:nvSpPr>
        <p:spPr>
          <a:xfrm>
            <a:off x="900000" y="584352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6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Oval 18"/>
          <p:cNvSpPr/>
          <p:nvPr/>
        </p:nvSpPr>
        <p:spPr>
          <a:xfrm>
            <a:off x="803520" y="39600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" name="TextBox 64"/>
          <p:cNvSpPr/>
          <p:nvPr/>
        </p:nvSpPr>
        <p:spPr>
          <a:xfrm>
            <a:off x="900000" y="4016160"/>
            <a:ext cx="2692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4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6"/>
          <p:cNvSpPr/>
          <p:nvPr/>
        </p:nvSpPr>
        <p:spPr>
          <a:xfrm>
            <a:off x="1620000" y="3960000"/>
            <a:ext cx="3471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Файзулин Андрей  (МФТИ)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67"/>
          <p:cNvSpPr/>
          <p:nvPr/>
        </p:nvSpPr>
        <p:spPr>
          <a:xfrm>
            <a:off x="1656720" y="5760000"/>
            <a:ext cx="3203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Яковлев Даниил (МФТИ)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4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" name="TextBox 47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" name="Oval 1"/>
          <p:cNvSpPr/>
          <p:nvPr/>
        </p:nvSpPr>
        <p:spPr>
          <a:xfrm>
            <a:off x="777240" y="182880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" name="TextBox 48"/>
          <p:cNvSpPr/>
          <p:nvPr/>
        </p:nvSpPr>
        <p:spPr>
          <a:xfrm>
            <a:off x="870840" y="188352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49"/>
          <p:cNvSpPr/>
          <p:nvPr/>
        </p:nvSpPr>
        <p:spPr>
          <a:xfrm>
            <a:off x="1525320" y="1874520"/>
            <a:ext cx="4722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Данные не приведены к единому виду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Oval 2"/>
          <p:cNvSpPr/>
          <p:nvPr/>
        </p:nvSpPr>
        <p:spPr>
          <a:xfrm>
            <a:off x="777240" y="278892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TextBox 50"/>
          <p:cNvSpPr/>
          <p:nvPr/>
        </p:nvSpPr>
        <p:spPr>
          <a:xfrm>
            <a:off x="870840" y="284364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2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51"/>
          <p:cNvSpPr/>
          <p:nvPr/>
        </p:nvSpPr>
        <p:spPr>
          <a:xfrm>
            <a:off x="1552680" y="2784960"/>
            <a:ext cx="4871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Много опечаток и лишней информации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Oval 5"/>
          <p:cNvSpPr/>
          <p:nvPr/>
        </p:nvSpPr>
        <p:spPr>
          <a:xfrm>
            <a:off x="777240" y="374904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TextBox 52"/>
          <p:cNvSpPr/>
          <p:nvPr/>
        </p:nvSpPr>
        <p:spPr>
          <a:xfrm>
            <a:off x="870840" y="380376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3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53"/>
          <p:cNvSpPr/>
          <p:nvPr/>
        </p:nvSpPr>
        <p:spPr>
          <a:xfrm>
            <a:off x="1589760" y="3780360"/>
            <a:ext cx="3256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Данные на разных языках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Oval 7"/>
          <p:cNvSpPr/>
          <p:nvPr/>
        </p:nvSpPr>
        <p:spPr>
          <a:xfrm>
            <a:off x="777240" y="4709160"/>
            <a:ext cx="456480" cy="45648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TextBox 54"/>
          <p:cNvSpPr/>
          <p:nvPr/>
        </p:nvSpPr>
        <p:spPr>
          <a:xfrm>
            <a:off x="870840" y="47638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4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55"/>
          <p:cNvSpPr/>
          <p:nvPr/>
        </p:nvSpPr>
        <p:spPr>
          <a:xfrm>
            <a:off x="1626120" y="4752720"/>
            <a:ext cx="3209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Нет размеченных данных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6"/>
          <p:cNvSpPr/>
          <p:nvPr/>
        </p:nvSpPr>
        <p:spPr>
          <a:xfrm>
            <a:off x="870840" y="572400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5</a:t>
            </a: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57"/>
          <p:cNvSpPr/>
          <p:nvPr/>
        </p:nvSpPr>
        <p:spPr>
          <a:xfrm>
            <a:off x="3207960" y="5695200"/>
            <a:ext cx="319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" name="TextBox 58"/>
          <p:cNvSpPr/>
          <p:nvPr/>
        </p:nvSpPr>
        <p:spPr>
          <a:xfrm>
            <a:off x="4804200" y="6419160"/>
            <a:ext cx="255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                                                                                   </a:t>
            </a:r>
            <a:endParaRPr b="0" lang="ru-R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59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" name="TextBox 60"/>
          <p:cNvSpPr/>
          <p:nvPr/>
        </p:nvSpPr>
        <p:spPr>
          <a:xfrm>
            <a:off x="685800" y="640080"/>
            <a:ext cx="10057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TextBox 61"/>
          <p:cNvSpPr/>
          <p:nvPr/>
        </p:nvSpPr>
        <p:spPr>
          <a:xfrm>
            <a:off x="2230560" y="594000"/>
            <a:ext cx="2482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Специфика данных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7020000" y="720"/>
            <a:ext cx="514260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85800" y="5029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Цели каждой из групп</a:t>
            </a:r>
            <a:endParaRPr b="0" lang="ru-RU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36576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778680" y="1819800"/>
            <a:ext cx="956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Сырые CSV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222192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2215800" y="1819800"/>
            <a:ext cx="1794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Очистка и нормализация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407808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4218120" y="1819800"/>
            <a:ext cx="1501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LLM-парсер запроса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9"/>
          <p:cNvSpPr/>
          <p:nvPr/>
        </p:nvSpPr>
        <p:spPr>
          <a:xfrm>
            <a:off x="593460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834520" y="1819800"/>
            <a:ext cx="1982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Noto Sans CJK SC"/>
              </a:rPr>
              <a:t>BM25 + embeddings +</a:t>
            </a: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FAISS  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779076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8399880" y="1819800"/>
            <a:ext cx="561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top-20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ounded Rectangle 13"/>
          <p:cNvSpPr/>
          <p:nvPr/>
        </p:nvSpPr>
        <p:spPr>
          <a:xfrm>
            <a:off x="9646920" y="1691640"/>
            <a:ext cx="1782360" cy="657720"/>
          </a:xfrm>
          <a:prstGeom prst="roundRect">
            <a:avLst>
              <a:gd name="adj" fmla="val 16667"/>
            </a:avLst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9691920" y="1819800"/>
            <a:ext cx="16974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LLM-судья + nDCG 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b="1" lang="en-US" sz="11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как метрик для оценки</a:t>
            </a: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ru-R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419400" y="2871360"/>
            <a:ext cx="7458120" cy="12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1: нужно очистить данные и привести к удобному общему виду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2: необходимо создать многоэтапную систему поиска аналогов товаров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7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3: создать gold dataset и метрики для обучения и оценки работы поиска</a:t>
            </a:r>
            <a:endParaRPr b="0" lang="ru-RU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Picture 17" descr="analytics.jpg"/>
          <p:cNvPicPr/>
          <p:nvPr/>
        </p:nvPicPr>
        <p:blipFill>
          <a:blip r:embed="rId1"/>
          <a:stretch/>
        </p:blipFill>
        <p:spPr>
          <a:xfrm>
            <a:off x="8385840" y="2676600"/>
            <a:ext cx="3805560" cy="344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6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" name="Rectangle 9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TextBox 1"/>
          <p:cNvSpPr/>
          <p:nvPr/>
        </p:nvSpPr>
        <p:spPr>
          <a:xfrm>
            <a:off x="685800" y="45720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Команда: три направления работы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1"/>
          <p:cNvSpPr/>
          <p:nvPr/>
        </p:nvSpPr>
        <p:spPr>
          <a:xfrm>
            <a:off x="502920" y="1417320"/>
            <a:ext cx="3611160" cy="489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" name="Rectangle 10"/>
          <p:cNvSpPr/>
          <p:nvPr/>
        </p:nvSpPr>
        <p:spPr>
          <a:xfrm>
            <a:off x="502920" y="1417320"/>
            <a:ext cx="3611160" cy="50220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" name="TextBox 19"/>
          <p:cNvSpPr/>
          <p:nvPr/>
        </p:nvSpPr>
        <p:spPr>
          <a:xfrm>
            <a:off x="612720" y="1463040"/>
            <a:ext cx="3391560" cy="20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Группа 1 · Данные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5 CSV-таблиц → единый каталог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Исправление опечаток как Т9 и очистка данных от мусора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Выделение характеристик, приведение к единому виду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2"/>
          <p:cNvSpPr/>
          <p:nvPr/>
        </p:nvSpPr>
        <p:spPr>
          <a:xfrm>
            <a:off x="4297680" y="1417320"/>
            <a:ext cx="3611160" cy="489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4297680" y="1417320"/>
            <a:ext cx="3611160" cy="502200"/>
          </a:xfrm>
          <a:prstGeom prst="rect">
            <a:avLst/>
          </a:prstGeom>
          <a:solidFill>
            <a:srgbClr val="0f1c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4407480" y="1463040"/>
            <a:ext cx="3391560" cy="23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2 · Поиск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Noto Sans CJK SC"/>
              </a:rPr>
              <a:t>BM25 для поиска точного совпадения по словам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Noto Sans CJK SC"/>
              </a:rPr>
              <a:t>Эмбеддинги </a:t>
            </a: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+ FAISS HNSW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Сравнение запроса и товара по эмбендингам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Boost-ranker / XGBoost → top-20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8"/>
          <p:cNvSpPr/>
          <p:nvPr/>
        </p:nvSpPr>
        <p:spPr>
          <a:xfrm>
            <a:off x="8092440" y="1417320"/>
            <a:ext cx="3611160" cy="489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13"/>
          <p:cNvSpPr/>
          <p:nvPr/>
        </p:nvSpPr>
        <p:spPr>
          <a:xfrm>
            <a:off x="8092440" y="1417320"/>
            <a:ext cx="3611160" cy="502200"/>
          </a:xfrm>
          <a:prstGeom prst="rect">
            <a:avLst/>
          </a:prstGeom>
          <a:solidFill>
            <a:srgbClr val="0f1c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TextBox 24"/>
          <p:cNvSpPr/>
          <p:nvPr/>
        </p:nvSpPr>
        <p:spPr>
          <a:xfrm>
            <a:off x="8202240" y="1463040"/>
            <a:ext cx="3391560" cy="15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3 · Оценка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LLM-судья (0–3) и метрики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nDCG@20, Precision@5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4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Золотой стандарт (Kimi K2.6)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" descr="catalog_sofa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24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50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" name="Oval 4"/>
          <p:cNvSpPr/>
          <p:nvPr/>
        </p:nvSpPr>
        <p:spPr>
          <a:xfrm>
            <a:off x="502920" y="2377440"/>
            <a:ext cx="1005120" cy="100512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737640" y="2606040"/>
            <a:ext cx="53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01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1737360" y="2331720"/>
            <a:ext cx="914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Постановка задачи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Что мы оцениваем?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777240" y="1828800"/>
            <a:ext cx="548568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Пользователь вводит запрос: «белая кровать 160»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Система возвращает топ-20 ID из каталога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Нужно измерить качество и правильность порядка результатов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7" descr="search.jpg"/>
          <p:cNvPicPr/>
          <p:nvPr/>
        </p:nvPicPr>
        <p:blipFill>
          <a:blip r:embed="rId1"/>
          <a:stretch/>
        </p:blipFill>
        <p:spPr>
          <a:xfrm>
            <a:off x="6172200" y="502920"/>
            <a:ext cx="580572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modern_interior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35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50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7" name="Oval 4"/>
          <p:cNvSpPr/>
          <p:nvPr/>
        </p:nvSpPr>
        <p:spPr>
          <a:xfrm>
            <a:off x="502920" y="2377440"/>
            <a:ext cx="1005120" cy="100512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737640" y="2606040"/>
            <a:ext cx="53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02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1737360" y="2331720"/>
            <a:ext cx="914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1 · Данные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451080" y="53316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Очистка и подготовка каталога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40000" y="1620000"/>
            <a:ext cx="548568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Загрузка 5 CSV: единые колонки, домен, ID, артикул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Сбор характеристик (тип, цвет, габариты…)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Исправление опечаток и неформальных запросов через LLM-парсер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единый вид полей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5796720" y="1284480"/>
            <a:ext cx="6708600" cy="365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609840" y="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                                    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Масштаб каталога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338040" y="1444320"/>
            <a:ext cx="1644120" cy="304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469800" y="1806480"/>
            <a:ext cx="138024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d4a53a"/>
                </a:solidFill>
                <a:latin typeface="Times New Roman"/>
                <a:ea typeface="DejaVu Sans"/>
              </a:rPr>
              <a:t>4 894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товаров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2122560" y="1444320"/>
            <a:ext cx="1643760" cy="304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2431080" y="1806480"/>
            <a:ext cx="102672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d4a53a"/>
                </a:solidFill>
                <a:latin typeface="Times New Roman"/>
                <a:ea typeface="DejaVu Sans"/>
              </a:rPr>
              <a:t>5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таблиц CSV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3906720" y="1444320"/>
            <a:ext cx="1644120" cy="304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e8e4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4114440" y="1834920"/>
            <a:ext cx="128412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d4a53a"/>
                </a:solidFill>
                <a:latin typeface="Times New Roman"/>
                <a:ea typeface="DejaVu Sans"/>
              </a:rPr>
              <a:t>100+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запросов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5518080" y="730800"/>
            <a:ext cx="7498800" cy="40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" descr="ai_tech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55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50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Oval 4"/>
          <p:cNvSpPr/>
          <p:nvPr/>
        </p:nvSpPr>
        <p:spPr>
          <a:xfrm>
            <a:off x="502920" y="2377440"/>
            <a:ext cx="1005120" cy="100512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737640" y="2606040"/>
            <a:ext cx="53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03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1737360" y="2331720"/>
            <a:ext cx="914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2 · Поиск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7"/>
          <p:cNvSpPr/>
          <p:nvPr/>
        </p:nvSpPr>
        <p:spPr>
          <a:xfrm>
            <a:off x="10004040" y="6355080"/>
            <a:ext cx="83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9aabb"/>
                </a:solidFill>
                <a:latin typeface="Times New Roman"/>
                <a:ea typeface="DejaVu Sans"/>
              </a:rPr>
              <a:t>Фото: Unsplash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Сравнение запроса и товаров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777240" y="1828800"/>
            <a:ext cx="5485680" cy="19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- Эмбеддинг общей строки характеристик и по полям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- BM25 + FAISS HNSW → top-1000 кандидатов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- Итоговый score: взвешенный счет эмбеддинга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- Итоговые веса → top-20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7" descr="ai_tech.jpg"/>
          <p:cNvPicPr/>
          <p:nvPr/>
        </p:nvPicPr>
        <p:blipFill>
          <a:blip r:embed="rId1"/>
          <a:stretch/>
        </p:blipFill>
        <p:spPr>
          <a:xfrm>
            <a:off x="6172200" y="502920"/>
            <a:ext cx="580572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880560" y="48276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Группа 2: ранжирование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Oval 4"/>
          <p:cNvSpPr/>
          <p:nvPr/>
        </p:nvSpPr>
        <p:spPr>
          <a:xfrm>
            <a:off x="2134080" y="1879920"/>
            <a:ext cx="502200" cy="50220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2250360" y="195300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3108600" y="1818720"/>
            <a:ext cx="1017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Парсер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project.py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2335320" y="2410200"/>
            <a:ext cx="36000" cy="456480"/>
          </a:xfrm>
          <a:prstGeom prst="rect">
            <a:avLst/>
          </a:prstGeom>
          <a:solidFill>
            <a:srgbClr val="e8e4d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2" name="Oval 8"/>
          <p:cNvSpPr/>
          <p:nvPr/>
        </p:nvSpPr>
        <p:spPr>
          <a:xfrm>
            <a:off x="2134080" y="2840040"/>
            <a:ext cx="502200" cy="502200"/>
          </a:xfrm>
          <a:prstGeom prst="ellipse">
            <a:avLst/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2250360" y="291312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2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3143160" y="2788920"/>
            <a:ext cx="845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BM25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текст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11"/>
          <p:cNvSpPr/>
          <p:nvPr/>
        </p:nvSpPr>
        <p:spPr>
          <a:xfrm>
            <a:off x="2335320" y="3370320"/>
            <a:ext cx="36000" cy="456480"/>
          </a:xfrm>
          <a:prstGeom prst="rect">
            <a:avLst/>
          </a:prstGeom>
          <a:solidFill>
            <a:srgbClr val="e8e4d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6" name="Oval 12"/>
          <p:cNvSpPr/>
          <p:nvPr/>
        </p:nvSpPr>
        <p:spPr>
          <a:xfrm>
            <a:off x="2134080" y="3800160"/>
            <a:ext cx="502200" cy="50220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2250360" y="387324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3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3124800" y="3749040"/>
            <a:ext cx="881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FAISS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bge-m3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15"/>
          <p:cNvSpPr/>
          <p:nvPr/>
        </p:nvSpPr>
        <p:spPr>
          <a:xfrm>
            <a:off x="2335320" y="4330440"/>
            <a:ext cx="36000" cy="456480"/>
          </a:xfrm>
          <a:prstGeom prst="rect">
            <a:avLst/>
          </a:prstGeom>
          <a:solidFill>
            <a:srgbClr val="e8e4d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Oval 16"/>
          <p:cNvSpPr/>
          <p:nvPr/>
        </p:nvSpPr>
        <p:spPr>
          <a:xfrm>
            <a:off x="2134080" y="4760280"/>
            <a:ext cx="502200" cy="502200"/>
          </a:xfrm>
          <a:prstGeom prst="ellipse">
            <a:avLst/>
          </a:prstGeom>
          <a:solidFill>
            <a:srgbClr val="1b3a4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2250360" y="483336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4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8"/>
          <p:cNvSpPr/>
          <p:nvPr/>
        </p:nvSpPr>
        <p:spPr>
          <a:xfrm>
            <a:off x="2953080" y="4729680"/>
            <a:ext cx="1368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  </a:t>
            </a: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Поля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embedding_score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9"/>
          <p:cNvSpPr/>
          <p:nvPr/>
        </p:nvSpPr>
        <p:spPr>
          <a:xfrm>
            <a:off x="2335320" y="5290560"/>
            <a:ext cx="36000" cy="456480"/>
          </a:xfrm>
          <a:prstGeom prst="rect">
            <a:avLst/>
          </a:prstGeom>
          <a:solidFill>
            <a:srgbClr val="e8e4d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Oval 20"/>
          <p:cNvSpPr/>
          <p:nvPr/>
        </p:nvSpPr>
        <p:spPr>
          <a:xfrm>
            <a:off x="2134080" y="5720400"/>
            <a:ext cx="502200" cy="50220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21"/>
          <p:cNvSpPr/>
          <p:nvPr/>
        </p:nvSpPr>
        <p:spPr>
          <a:xfrm>
            <a:off x="2250360" y="5793480"/>
            <a:ext cx="26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5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22"/>
          <p:cNvSpPr/>
          <p:nvPr/>
        </p:nvSpPr>
        <p:spPr>
          <a:xfrm>
            <a:off x="3098160" y="5760000"/>
            <a:ext cx="935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Top-20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24" descr="analytics.jpg"/>
          <p:cNvPicPr/>
          <p:nvPr/>
        </p:nvPicPr>
        <p:blipFill>
          <a:blip r:embed="rId1"/>
          <a:stretch/>
        </p:blipFill>
        <p:spPr>
          <a:xfrm>
            <a:off x="5943600" y="1234440"/>
            <a:ext cx="5988600" cy="534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2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Rectangle 2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0" name="TextBox 70"/>
          <p:cNvSpPr/>
          <p:nvPr/>
        </p:nvSpPr>
        <p:spPr>
          <a:xfrm>
            <a:off x="685800" y="360000"/>
            <a:ext cx="56685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Визуализация 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разделения 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по кластерам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71"/>
          <p:cNvSpPr/>
          <p:nvPr/>
        </p:nvSpPr>
        <p:spPr>
          <a:xfrm>
            <a:off x="777240" y="1828800"/>
            <a:ext cx="54856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5542200" y="-17640"/>
            <a:ext cx="66488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1" descr="analytics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94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50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5" name="Rectangle 3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6" name="Oval 4"/>
          <p:cNvSpPr/>
          <p:nvPr/>
        </p:nvSpPr>
        <p:spPr>
          <a:xfrm>
            <a:off x="502920" y="2377440"/>
            <a:ext cx="1005120" cy="100512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737640" y="2606040"/>
            <a:ext cx="53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04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1737360" y="2331720"/>
            <a:ext cx="914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Группа 3 · Оценка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10004040" y="6355080"/>
            <a:ext cx="83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9aabb"/>
                </a:solidFill>
                <a:latin typeface="Times New Roman"/>
                <a:ea typeface="DejaVu Sans"/>
              </a:rPr>
              <a:t>Фото: Unsplash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4776120" y="6419160"/>
            <a:ext cx="2608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Оценка поиска мебели · ann + evaluation  ·  13 / 23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Семантическая оценка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2407680" y="1097280"/>
            <a:ext cx="204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gpt-oss-120b · HydraGPT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5"/>
          <p:cNvSpPr/>
          <p:nvPr/>
        </p:nvSpPr>
        <p:spPr>
          <a:xfrm>
            <a:off x="777240" y="1828800"/>
            <a:ext cx="5485680" cy="12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Попарно: запрос + карточка товара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Ответ: объяснение + score 0–3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Записывать в кэш оценки 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7" descr="ai_tech.jpg"/>
          <p:cNvPicPr/>
          <p:nvPr/>
        </p:nvPicPr>
        <p:blipFill>
          <a:blip r:embed="rId1"/>
          <a:stretch/>
        </p:blipFill>
        <p:spPr>
          <a:xfrm>
            <a:off x="6172200" y="502920"/>
            <a:ext cx="580572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6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Rectangle 17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-360" y="-36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685800" y="502920"/>
            <a:ext cx="5485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Шкала LLM-судьи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3"/>
          <p:cNvSpPr/>
          <p:nvPr/>
        </p:nvSpPr>
        <p:spPr>
          <a:xfrm>
            <a:off x="777240" y="1554480"/>
            <a:ext cx="593640" cy="593640"/>
          </a:xfrm>
          <a:prstGeom prst="roundRect">
            <a:avLst>
              <a:gd name="adj" fmla="val 16667"/>
            </a:avLst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914400" y="1664280"/>
            <a:ext cx="319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3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2598120" y="1554480"/>
            <a:ext cx="23007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Отличное совпадение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≤</a:t>
            </a: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1 отличие по характеристикам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6"/>
          <p:cNvSpPr/>
          <p:nvPr/>
        </p:nvSpPr>
        <p:spPr>
          <a:xfrm>
            <a:off x="777240" y="2606040"/>
            <a:ext cx="593640" cy="59364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914400" y="2715840"/>
            <a:ext cx="319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2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8"/>
          <p:cNvSpPr/>
          <p:nvPr/>
        </p:nvSpPr>
        <p:spPr>
          <a:xfrm>
            <a:off x="3227760" y="2606040"/>
            <a:ext cx="104184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Хорошее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≤</a:t>
            </a: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2 отличия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9"/>
          <p:cNvSpPr/>
          <p:nvPr/>
        </p:nvSpPr>
        <p:spPr>
          <a:xfrm>
            <a:off x="777240" y="3657600"/>
            <a:ext cx="593640" cy="59364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914400" y="3767400"/>
            <a:ext cx="319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1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1"/>
          <p:cNvSpPr/>
          <p:nvPr/>
        </p:nvSpPr>
        <p:spPr>
          <a:xfrm>
            <a:off x="3023640" y="3657600"/>
            <a:ext cx="14500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Частичное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смежные категории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12"/>
          <p:cNvSpPr/>
          <p:nvPr/>
        </p:nvSpPr>
        <p:spPr>
          <a:xfrm>
            <a:off x="777240" y="4709160"/>
            <a:ext cx="593640" cy="593640"/>
          </a:xfrm>
          <a:prstGeom prst="roundRect">
            <a:avLst>
              <a:gd name="adj" fmla="val 16667"/>
            </a:avLst>
          </a:prstGeom>
          <a:solidFill>
            <a:srgbClr val="0f1c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2" name="TextBox 13"/>
          <p:cNvSpPr/>
          <p:nvPr/>
        </p:nvSpPr>
        <p:spPr>
          <a:xfrm>
            <a:off x="914400" y="4818960"/>
            <a:ext cx="319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0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3218400" y="4709160"/>
            <a:ext cx="10602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Мусор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нерелевантно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16" descr="catalog_sofa.jpg"/>
          <p:cNvPicPr/>
          <p:nvPr/>
        </p:nvPicPr>
        <p:blipFill>
          <a:blip r:embed="rId1"/>
          <a:stretch/>
        </p:blipFill>
        <p:spPr>
          <a:xfrm>
            <a:off x="6035040" y="822960"/>
            <a:ext cx="5851440" cy="566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685800" y="548640"/>
            <a:ext cx="5485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nDCG@20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720000" y="1554480"/>
            <a:ext cx="38444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sᵢ – оценки от llm-судьи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DCG = Σ sᵢ / log₂(i+1)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nDCG = DCG / IDCG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Чувствителен к позиции в выдаче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8" name="Picture 5" descr="analytics.jpg"/>
          <p:cNvPicPr/>
          <p:nvPr/>
        </p:nvPicPr>
        <p:blipFill>
          <a:blip r:embed="rId1"/>
          <a:stretch/>
        </p:blipFill>
        <p:spPr>
          <a:xfrm>
            <a:off x="5943600" y="594360"/>
            <a:ext cx="5988600" cy="5942880"/>
          </a:xfrm>
          <a:prstGeom prst="rect">
            <a:avLst/>
          </a:prstGeom>
          <a:ln w="0">
            <a:noFill/>
          </a:ln>
        </p:spPr>
      </p:pic>
      <p:sp>
        <p:nvSpPr>
          <p:cNvPr id="229" name="TextBox 6"/>
          <p:cNvSpPr/>
          <p:nvPr/>
        </p:nvSpPr>
        <p:spPr>
          <a:xfrm>
            <a:off x="10004040" y="6355080"/>
            <a:ext cx="83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9aabb"/>
                </a:solidFill>
                <a:latin typeface="Times New Roman"/>
                <a:ea typeface="DejaVu Sans"/>
              </a:rPr>
              <a:t>Фото: Unsplash</a:t>
            </a:r>
            <a:endParaRPr b="0" lang="ru-RU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685800" y="548640"/>
            <a:ext cx="5485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0d99a"/>
                </a:solidFill>
                <a:latin typeface="Times New Roman"/>
                <a:ea typeface="DejaVu Sans"/>
              </a:rPr>
              <a:t>Precision@5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720000" y="1620000"/>
            <a:ext cx="3670560" cy="14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P@5 = (релевантных в топ-5) / 5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Качество первого экрана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Дополняет nDCG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3" name="Picture 5" descr="search.jpg"/>
          <p:cNvPicPr/>
          <p:nvPr/>
        </p:nvPicPr>
        <p:blipFill>
          <a:blip r:embed="rId1"/>
          <a:stretch/>
        </p:blipFill>
        <p:spPr>
          <a:xfrm>
            <a:off x="5943600" y="594360"/>
            <a:ext cx="598860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1" descr="bedroom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235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50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7" name="Oval 4"/>
          <p:cNvSpPr/>
          <p:nvPr/>
        </p:nvSpPr>
        <p:spPr>
          <a:xfrm>
            <a:off x="502920" y="2377440"/>
            <a:ext cx="1005120" cy="1005120"/>
          </a:xfrm>
          <a:prstGeom prst="ellipse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737640" y="2606040"/>
            <a:ext cx="53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05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1737360" y="2331720"/>
            <a:ext cx="914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Эталон и выводы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8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1" name="Rectangle 2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2" name="TextBox 68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G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o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l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d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 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d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a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t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a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s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e</a:t>
            </a: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t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69"/>
          <p:cNvSpPr/>
          <p:nvPr/>
        </p:nvSpPr>
        <p:spPr>
          <a:xfrm>
            <a:off x="777240" y="1828800"/>
            <a:ext cx="5485680" cy="12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smart_gold_standard — 15 запросов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overnight — 200 × 40 товаров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Визуальные отчёты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" descr=""/>
          <p:cNvPicPr/>
          <p:nvPr/>
        </p:nvPicPr>
        <p:blipFill>
          <a:blip r:embed="rId1"/>
          <a:stretch/>
        </p:blipFill>
        <p:spPr>
          <a:xfrm>
            <a:off x="-360" y="-36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6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7" name="TextBox 3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Пример запроса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807120" y="1260000"/>
            <a:ext cx="1712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b7b8c"/>
                </a:solidFill>
                <a:latin typeface="Times New Roman"/>
                <a:ea typeface="DejaVu Sans"/>
              </a:rPr>
              <a:t>«белая кровать 160»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777240" y="1828800"/>
            <a:ext cx="5485680" cy="12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s5_582 — Кровать-карета, 160×200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s1_386 — Кровать Орхидея, белый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s5_16 — Кровать-карета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Picture 7" descr="bedroom.jpg"/>
          <p:cNvPicPr/>
          <p:nvPr/>
        </p:nvPicPr>
        <p:blipFill>
          <a:blip r:embed="rId1"/>
          <a:stretch/>
        </p:blipFill>
        <p:spPr>
          <a:xfrm>
            <a:off x="6172200" y="502920"/>
            <a:ext cx="580572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7440" cy="685728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2" name="Rectangle 2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685800" y="502920"/>
            <a:ext cx="56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c2e"/>
                </a:solidFill>
                <a:latin typeface="Times New Roman"/>
                <a:ea typeface="DejaVu Sans"/>
              </a:rPr>
              <a:t>Выводы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777240" y="1828800"/>
            <a:ext cx="5485680" cy="12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Группа 1: чистые данные и структура запроса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Группа 2: семантический поиск на эмбеддингах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a2a2a"/>
                </a:solidFill>
                <a:latin typeface="Times New Roman"/>
                <a:ea typeface="DejaVu Sans"/>
              </a:rPr>
              <a:t>Группа 3: метрики и золотой стандарт</a:t>
            </a:r>
            <a:endParaRPr b="0" lang="ru-RU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Picture 6" descr="title_furniture.jpg"/>
          <p:cNvPicPr/>
          <p:nvPr/>
        </p:nvPicPr>
        <p:blipFill>
          <a:blip r:embed="rId1"/>
          <a:stretch/>
        </p:blipFill>
        <p:spPr>
          <a:xfrm>
            <a:off x="6172200" y="502920"/>
            <a:ext cx="580572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1" descr="living_room.jp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257" name="Rectangle 2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c2e">
              <a:alpha val="32000"/>
            </a:srgbClr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0" y="0"/>
            <a:ext cx="12191040" cy="90720"/>
          </a:xfrm>
          <a:prstGeom prst="rect">
            <a:avLst/>
          </a:prstGeom>
          <a:solidFill>
            <a:srgbClr val="d4a53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3207600" y="2651760"/>
            <a:ext cx="5775480" cy="13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2800" spc="-1" strike="noStrike">
                <a:solidFill>
                  <a:srgbClr val="d4a53a"/>
                </a:solidFill>
                <a:latin typeface="Times New Roman"/>
                <a:ea typeface="DejaVu Sans"/>
              </a:rPr>
              <a:t>Вопросы?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2026-05-25T13:50:20Z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