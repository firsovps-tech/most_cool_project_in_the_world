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3.png" ContentType="image/png"/>
  <Override PartName="/ppt/media/image8.png" ContentType="image/png"/>
  <Override PartName="/ppt/media/image16.jpeg" ContentType="image/jpeg"/>
  <Override PartName="/ppt/media/image15.png" ContentType="image/png"/>
  <Override PartName="/ppt/media/image5.jpeg" ContentType="image/jpeg"/>
  <Override PartName="/ppt/media/image14.jpeg" ContentType="image/jpeg"/>
  <Override PartName="/ppt/media/image1.jpeg" ContentType="image/jpeg"/>
  <Override PartName="/ppt/media/image4.jpeg" ContentType="image/jpeg"/>
  <Override PartName="/ppt/media/image6.jpeg" ContentType="image/jpeg"/>
  <Override PartName="/ppt/media/image13.png" ContentType="image/png"/>
  <Override PartName="/ppt/media/image10.jpeg" ContentType="image/jpeg"/>
  <Override PartName="/ppt/media/image9.png" ContentType="image/png"/>
  <Override PartName="/ppt/media/image7.jpeg" ContentType="image/jpeg"/>
  <Override PartName="/ppt/media/image1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737DAD-7C5F-4235-87E3-925E0CABCE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B037E5-6D9B-4625-8392-5F00D3F8EF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4994D5-EFFE-41FA-B08D-1AC344C143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E30A04F-8651-4F4A-A179-2BC306A717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я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п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р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в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и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е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с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з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г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в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и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я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щ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ё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н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и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е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м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ы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ш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ь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2537A3D-2621-4E19-996F-D7AE06C4BB3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" descr="title_furniture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15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38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" name="Rectangle 3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" name="TextBox 4"/>
          <p:cNvSpPr/>
          <p:nvPr/>
        </p:nvSpPr>
        <p:spPr>
          <a:xfrm>
            <a:off x="2700000" y="1620000"/>
            <a:ext cx="10056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Поиск аналогов товаров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Box 5"/>
          <p:cNvSpPr/>
          <p:nvPr/>
        </p:nvSpPr>
        <p:spPr>
          <a:xfrm>
            <a:off x="2160000" y="3420000"/>
            <a:ext cx="69390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От запроса пользователя к метрикам nDCG и LLM-судье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Box 7"/>
          <p:cNvSpPr/>
          <p:nvPr/>
        </p:nvSpPr>
        <p:spPr>
          <a:xfrm>
            <a:off x="5141160" y="4498920"/>
            <a:ext cx="22860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" name="TextBox 2"/>
          <p:cNvSpPr/>
          <p:nvPr/>
        </p:nvSpPr>
        <p:spPr>
          <a:xfrm>
            <a:off x="685800" y="640080"/>
            <a:ext cx="1005696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Содержание</a:t>
            </a:r>
            <a:endParaRPr b="0" lang="ru-RU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Oval 3"/>
          <p:cNvSpPr/>
          <p:nvPr/>
        </p:nvSpPr>
        <p:spPr>
          <a:xfrm>
            <a:off x="777240" y="18288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" name="TextBox 4"/>
          <p:cNvSpPr/>
          <p:nvPr/>
        </p:nvSpPr>
        <p:spPr>
          <a:xfrm>
            <a:off x="870840" y="188352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Box 5"/>
          <p:cNvSpPr/>
          <p:nvPr/>
        </p:nvSpPr>
        <p:spPr>
          <a:xfrm>
            <a:off x="1980000" y="1874520"/>
            <a:ext cx="35877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Постановка задачи и данные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Oval 6"/>
          <p:cNvSpPr/>
          <p:nvPr/>
        </p:nvSpPr>
        <p:spPr>
          <a:xfrm>
            <a:off x="777240" y="278892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" name="TextBox 7"/>
          <p:cNvSpPr/>
          <p:nvPr/>
        </p:nvSpPr>
        <p:spPr>
          <a:xfrm>
            <a:off x="870840" y="284364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2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Box 8"/>
          <p:cNvSpPr/>
          <p:nvPr/>
        </p:nvSpPr>
        <p:spPr>
          <a:xfrm>
            <a:off x="1980000" y="2815200"/>
            <a:ext cx="33195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Работа команды: 3 группы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Oval 9"/>
          <p:cNvSpPr/>
          <p:nvPr/>
        </p:nvSpPr>
        <p:spPr>
          <a:xfrm>
            <a:off x="777240" y="374904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" name="TextBox 10"/>
          <p:cNvSpPr/>
          <p:nvPr/>
        </p:nvSpPr>
        <p:spPr>
          <a:xfrm>
            <a:off x="870840" y="380376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3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11"/>
          <p:cNvSpPr/>
          <p:nvPr/>
        </p:nvSpPr>
        <p:spPr>
          <a:xfrm>
            <a:off x="2005920" y="3780000"/>
            <a:ext cx="28530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Поиск на эмбеддингах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Oval 12"/>
          <p:cNvSpPr/>
          <p:nvPr/>
        </p:nvSpPr>
        <p:spPr>
          <a:xfrm>
            <a:off x="777240" y="470916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" name="TextBox 13"/>
          <p:cNvSpPr/>
          <p:nvPr/>
        </p:nvSpPr>
        <p:spPr>
          <a:xfrm>
            <a:off x="870840" y="47638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4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Box 14"/>
          <p:cNvSpPr/>
          <p:nvPr/>
        </p:nvSpPr>
        <p:spPr>
          <a:xfrm>
            <a:off x="1971360" y="4680000"/>
            <a:ext cx="34275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Оценка качества и метрики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Oval 15"/>
          <p:cNvSpPr/>
          <p:nvPr/>
        </p:nvSpPr>
        <p:spPr>
          <a:xfrm>
            <a:off x="777240" y="566928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" name="TextBox 16"/>
          <p:cNvSpPr/>
          <p:nvPr/>
        </p:nvSpPr>
        <p:spPr>
          <a:xfrm>
            <a:off x="870840" y="572400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5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Box 17"/>
          <p:cNvSpPr/>
          <p:nvPr/>
        </p:nvSpPr>
        <p:spPr>
          <a:xfrm>
            <a:off x="1980000" y="5695200"/>
            <a:ext cx="34506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Золотой стандарт и выводы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Box 20"/>
          <p:cNvSpPr/>
          <p:nvPr/>
        </p:nvSpPr>
        <p:spPr>
          <a:xfrm>
            <a:off x="4804200" y="6419160"/>
            <a:ext cx="255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                                                                                   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Box 30"/>
          <p:cNvSpPr/>
          <p:nvPr/>
        </p:nvSpPr>
        <p:spPr>
          <a:xfrm>
            <a:off x="685800" y="640080"/>
            <a:ext cx="1005696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Содержание</a:t>
            </a:r>
            <a:endParaRPr b="0" lang="ru-RU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Box 31"/>
          <p:cNvSpPr/>
          <p:nvPr/>
        </p:nvSpPr>
        <p:spPr>
          <a:xfrm>
            <a:off x="685800" y="640080"/>
            <a:ext cx="1005696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Содержание</a:t>
            </a:r>
            <a:endParaRPr b="0" lang="ru-RU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5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" name="Rectangle 8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TextBox 25"/>
          <p:cNvSpPr/>
          <p:nvPr/>
        </p:nvSpPr>
        <p:spPr>
          <a:xfrm>
            <a:off x="757800" y="2052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                                        </a:t>
            </a: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Наша команда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Box 26"/>
          <p:cNvSpPr/>
          <p:nvPr/>
        </p:nvSpPr>
        <p:spPr>
          <a:xfrm>
            <a:off x="5296680" y="550440"/>
            <a:ext cx="192132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" name="TextBox 28"/>
          <p:cNvSpPr/>
          <p:nvPr/>
        </p:nvSpPr>
        <p:spPr>
          <a:xfrm>
            <a:off x="9598680" y="550440"/>
            <a:ext cx="192132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TextBox 27"/>
          <p:cNvSpPr/>
          <p:nvPr/>
        </p:nvSpPr>
        <p:spPr>
          <a:xfrm>
            <a:off x="4733280" y="2957760"/>
            <a:ext cx="1921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" name="TextBox 29"/>
          <p:cNvSpPr/>
          <p:nvPr/>
        </p:nvSpPr>
        <p:spPr>
          <a:xfrm>
            <a:off x="9598680" y="3756960"/>
            <a:ext cx="1921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1522080" y="974520"/>
            <a:ext cx="8831520" cy="5884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TextBox 32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0" name="Oval 10"/>
          <p:cNvSpPr/>
          <p:nvPr/>
        </p:nvSpPr>
        <p:spPr>
          <a:xfrm>
            <a:off x="803520" y="116352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TextBox 33"/>
          <p:cNvSpPr/>
          <p:nvPr/>
        </p:nvSpPr>
        <p:spPr>
          <a:xfrm>
            <a:off x="900000" y="12250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Oval 11"/>
          <p:cNvSpPr/>
          <p:nvPr/>
        </p:nvSpPr>
        <p:spPr>
          <a:xfrm>
            <a:off x="793440" y="211464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TextBox 35"/>
          <p:cNvSpPr/>
          <p:nvPr/>
        </p:nvSpPr>
        <p:spPr>
          <a:xfrm>
            <a:off x="900000" y="216000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2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Box 36"/>
          <p:cNvSpPr/>
          <p:nvPr/>
        </p:nvSpPr>
        <p:spPr>
          <a:xfrm>
            <a:off x="1620000" y="2095200"/>
            <a:ext cx="31183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Патеев Ильнур  (МФТИ)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Oval 13"/>
          <p:cNvSpPr/>
          <p:nvPr/>
        </p:nvSpPr>
        <p:spPr>
          <a:xfrm>
            <a:off x="803520" y="30600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TextBox 37"/>
          <p:cNvSpPr/>
          <p:nvPr/>
        </p:nvSpPr>
        <p:spPr>
          <a:xfrm>
            <a:off x="900000" y="31168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3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Box 38"/>
          <p:cNvSpPr/>
          <p:nvPr/>
        </p:nvSpPr>
        <p:spPr>
          <a:xfrm>
            <a:off x="1620000" y="3060000"/>
            <a:ext cx="28954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Рашева Анна  (МФТИ)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Oval 14"/>
          <p:cNvSpPr/>
          <p:nvPr/>
        </p:nvSpPr>
        <p:spPr>
          <a:xfrm>
            <a:off x="803520" y="48600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TextBox 39"/>
          <p:cNvSpPr/>
          <p:nvPr/>
        </p:nvSpPr>
        <p:spPr>
          <a:xfrm>
            <a:off x="900000" y="49168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5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Box 40"/>
          <p:cNvSpPr/>
          <p:nvPr/>
        </p:nvSpPr>
        <p:spPr>
          <a:xfrm>
            <a:off x="1620000" y="4860000"/>
            <a:ext cx="27781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Фирсов Павел (ВШЭ)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Box 41"/>
          <p:cNvSpPr/>
          <p:nvPr/>
        </p:nvSpPr>
        <p:spPr>
          <a:xfrm>
            <a:off x="870840" y="572400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5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Box 42"/>
          <p:cNvSpPr/>
          <p:nvPr/>
        </p:nvSpPr>
        <p:spPr>
          <a:xfrm>
            <a:off x="3207960" y="5695200"/>
            <a:ext cx="3186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3" name="TextBox 43"/>
          <p:cNvSpPr/>
          <p:nvPr/>
        </p:nvSpPr>
        <p:spPr>
          <a:xfrm>
            <a:off x="4804200" y="6419160"/>
            <a:ext cx="255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                                                                                   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Box 44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5" name="TextBox 45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6" name="TextBox 46"/>
          <p:cNvSpPr/>
          <p:nvPr/>
        </p:nvSpPr>
        <p:spPr>
          <a:xfrm>
            <a:off x="5040000" y="360000"/>
            <a:ext cx="1469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Участники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Box 63"/>
          <p:cNvSpPr/>
          <p:nvPr/>
        </p:nvSpPr>
        <p:spPr>
          <a:xfrm>
            <a:off x="900000" y="12250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65"/>
          <p:cNvSpPr/>
          <p:nvPr/>
        </p:nvSpPr>
        <p:spPr>
          <a:xfrm>
            <a:off x="1620000" y="1195200"/>
            <a:ext cx="44042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Баженова Маргарита   (Иннополис)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29800" y="565236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Oval 17"/>
          <p:cNvSpPr/>
          <p:nvPr/>
        </p:nvSpPr>
        <p:spPr>
          <a:xfrm>
            <a:off x="803520" y="57600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TextBox 62"/>
          <p:cNvSpPr/>
          <p:nvPr/>
        </p:nvSpPr>
        <p:spPr>
          <a:xfrm>
            <a:off x="900000" y="584352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6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Oval 18"/>
          <p:cNvSpPr/>
          <p:nvPr/>
        </p:nvSpPr>
        <p:spPr>
          <a:xfrm>
            <a:off x="803520" y="39600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TextBox 64"/>
          <p:cNvSpPr/>
          <p:nvPr/>
        </p:nvSpPr>
        <p:spPr>
          <a:xfrm>
            <a:off x="900000" y="401616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4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Box 66"/>
          <p:cNvSpPr/>
          <p:nvPr/>
        </p:nvSpPr>
        <p:spPr>
          <a:xfrm>
            <a:off x="1620000" y="3960000"/>
            <a:ext cx="34714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Файзулин Андрей  (МФТИ)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67"/>
          <p:cNvSpPr/>
          <p:nvPr/>
        </p:nvSpPr>
        <p:spPr>
          <a:xfrm>
            <a:off x="1656720" y="5760000"/>
            <a:ext cx="32032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Яковлев Даниил (МФТИ)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4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TextBox 47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Oval 1"/>
          <p:cNvSpPr/>
          <p:nvPr/>
        </p:nvSpPr>
        <p:spPr>
          <a:xfrm>
            <a:off x="777240" y="182880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TextBox 48"/>
          <p:cNvSpPr/>
          <p:nvPr/>
        </p:nvSpPr>
        <p:spPr>
          <a:xfrm>
            <a:off x="870840" y="188352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49"/>
          <p:cNvSpPr/>
          <p:nvPr/>
        </p:nvSpPr>
        <p:spPr>
          <a:xfrm>
            <a:off x="1525320" y="1874520"/>
            <a:ext cx="4722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Данные не приведены к единому виду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Oval 2"/>
          <p:cNvSpPr/>
          <p:nvPr/>
        </p:nvSpPr>
        <p:spPr>
          <a:xfrm>
            <a:off x="777240" y="278892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TextBox 50"/>
          <p:cNvSpPr/>
          <p:nvPr/>
        </p:nvSpPr>
        <p:spPr>
          <a:xfrm>
            <a:off x="870840" y="284364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2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51"/>
          <p:cNvSpPr/>
          <p:nvPr/>
        </p:nvSpPr>
        <p:spPr>
          <a:xfrm>
            <a:off x="1552680" y="2784960"/>
            <a:ext cx="48718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Много опечаток и лишней информации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Oval 5"/>
          <p:cNvSpPr/>
          <p:nvPr/>
        </p:nvSpPr>
        <p:spPr>
          <a:xfrm>
            <a:off x="777240" y="374904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TextBox 52"/>
          <p:cNvSpPr/>
          <p:nvPr/>
        </p:nvSpPr>
        <p:spPr>
          <a:xfrm>
            <a:off x="870840" y="380376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3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Box 53"/>
          <p:cNvSpPr/>
          <p:nvPr/>
        </p:nvSpPr>
        <p:spPr>
          <a:xfrm>
            <a:off x="1589760" y="3780360"/>
            <a:ext cx="32554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Данные на разных языках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Oval 7"/>
          <p:cNvSpPr/>
          <p:nvPr/>
        </p:nvSpPr>
        <p:spPr>
          <a:xfrm>
            <a:off x="777240" y="4709160"/>
            <a:ext cx="455760" cy="45576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TextBox 54"/>
          <p:cNvSpPr/>
          <p:nvPr/>
        </p:nvSpPr>
        <p:spPr>
          <a:xfrm>
            <a:off x="870840" y="47638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4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55"/>
          <p:cNvSpPr/>
          <p:nvPr/>
        </p:nvSpPr>
        <p:spPr>
          <a:xfrm>
            <a:off x="1626120" y="4752720"/>
            <a:ext cx="32083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Нет размеченных данных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56"/>
          <p:cNvSpPr/>
          <p:nvPr/>
        </p:nvSpPr>
        <p:spPr>
          <a:xfrm>
            <a:off x="870840" y="572400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5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57"/>
          <p:cNvSpPr/>
          <p:nvPr/>
        </p:nvSpPr>
        <p:spPr>
          <a:xfrm>
            <a:off x="3207960" y="5695200"/>
            <a:ext cx="3186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2" name="TextBox 58"/>
          <p:cNvSpPr/>
          <p:nvPr/>
        </p:nvSpPr>
        <p:spPr>
          <a:xfrm>
            <a:off x="4804200" y="6419160"/>
            <a:ext cx="255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                                                                                   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59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4" name="TextBox 60"/>
          <p:cNvSpPr/>
          <p:nvPr/>
        </p:nvSpPr>
        <p:spPr>
          <a:xfrm>
            <a:off x="685800" y="640080"/>
            <a:ext cx="1005696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5" name="TextBox 61"/>
          <p:cNvSpPr/>
          <p:nvPr/>
        </p:nvSpPr>
        <p:spPr>
          <a:xfrm>
            <a:off x="2230560" y="594000"/>
            <a:ext cx="24825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Специфика данных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7020000" y="720"/>
            <a:ext cx="5141880" cy="685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1" descr="catalog_sofa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98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50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"/>
          <p:cNvSpPr/>
          <p:nvPr/>
        </p:nvSpPr>
        <p:spPr>
          <a:xfrm>
            <a:off x="0" y="0"/>
            <a:ext cx="18144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Oval 4"/>
          <p:cNvSpPr/>
          <p:nvPr/>
        </p:nvSpPr>
        <p:spPr>
          <a:xfrm>
            <a:off x="502920" y="2377440"/>
            <a:ext cx="1004400" cy="100440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737640" y="2606040"/>
            <a:ext cx="5349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01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737360" y="2331720"/>
            <a:ext cx="9142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Постановка задачи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685800" y="502920"/>
            <a:ext cx="56678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316440" y="2105280"/>
            <a:ext cx="548496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22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В свободном текстовом виде поступают описания товаров, нужно пострить систему, которая по запросу клиента автоматически находит аналоги товаров и выдает ранжированный список самых релевантных товаров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Picture 7" descr="search.jpg"/>
          <p:cNvPicPr/>
          <p:nvPr/>
        </p:nvPicPr>
        <p:blipFill>
          <a:blip r:embed="rId1"/>
          <a:stretch/>
        </p:blipFill>
        <p:spPr>
          <a:xfrm>
            <a:off x="6172200" y="502920"/>
            <a:ext cx="580500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85800" y="50292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Цели каждой из групп</a:t>
            </a:r>
            <a:endParaRPr b="0" lang="ru-RU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ounded Rectangle 3"/>
          <p:cNvSpPr/>
          <p:nvPr/>
        </p:nvSpPr>
        <p:spPr>
          <a:xfrm>
            <a:off x="36576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682920" y="1819800"/>
            <a:ext cx="11487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Сырые данные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Rounded Rectangle 5"/>
          <p:cNvSpPr/>
          <p:nvPr/>
        </p:nvSpPr>
        <p:spPr>
          <a:xfrm>
            <a:off x="222192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2215800" y="1819800"/>
            <a:ext cx="17949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Очистка и нормализация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7"/>
          <p:cNvSpPr/>
          <p:nvPr/>
        </p:nvSpPr>
        <p:spPr>
          <a:xfrm>
            <a:off x="407808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TextBox 8"/>
          <p:cNvSpPr/>
          <p:nvPr/>
        </p:nvSpPr>
        <p:spPr>
          <a:xfrm>
            <a:off x="4218120" y="1819800"/>
            <a:ext cx="15012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LLM-парсер запроса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9"/>
          <p:cNvSpPr/>
          <p:nvPr/>
        </p:nvSpPr>
        <p:spPr>
          <a:xfrm>
            <a:off x="593460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TextBox 10"/>
          <p:cNvSpPr/>
          <p:nvPr/>
        </p:nvSpPr>
        <p:spPr>
          <a:xfrm>
            <a:off x="6088680" y="1819800"/>
            <a:ext cx="14752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Noto Sans CJK SC"/>
              </a:rPr>
              <a:t>Поисковая система</a:t>
            </a: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  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Rounded Rectangle 11"/>
          <p:cNvSpPr/>
          <p:nvPr/>
        </p:nvSpPr>
        <p:spPr>
          <a:xfrm>
            <a:off x="779076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TextBox 12"/>
          <p:cNvSpPr/>
          <p:nvPr/>
        </p:nvSpPr>
        <p:spPr>
          <a:xfrm>
            <a:off x="8399880" y="1819800"/>
            <a:ext cx="5612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top-20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Rounded Rectangle 13"/>
          <p:cNvSpPr/>
          <p:nvPr/>
        </p:nvSpPr>
        <p:spPr>
          <a:xfrm>
            <a:off x="9646920" y="1691640"/>
            <a:ext cx="1781640" cy="657000"/>
          </a:xfrm>
          <a:prstGeom prst="roundRect">
            <a:avLst>
              <a:gd name="adj" fmla="val 16667"/>
            </a:avLst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TextBox 14"/>
          <p:cNvSpPr/>
          <p:nvPr/>
        </p:nvSpPr>
        <p:spPr>
          <a:xfrm>
            <a:off x="9783000" y="1819800"/>
            <a:ext cx="15141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LLM-судья +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 </a:t>
            </a:r>
            <a:r>
              <a:rPr b="1" lang="en-US" sz="11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метрики для оценки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15"/>
          <p:cNvSpPr/>
          <p:nvPr/>
        </p:nvSpPr>
        <p:spPr>
          <a:xfrm>
            <a:off x="419400" y="2871360"/>
            <a:ext cx="745812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7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1: нужно очистить данные и привести к удобному общему виду</a:t>
            </a:r>
            <a:endParaRPr b="0" lang="ru-RU" sz="17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7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2: необходимо создать многоэтапную систему поиска аналогов товаров</a:t>
            </a:r>
            <a:endParaRPr b="0" lang="ru-RU" sz="17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7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3: создать gold dataset и метрики для обучения и оценки работы поиска</a:t>
            </a:r>
            <a:endParaRPr b="0" lang="ru-RU" sz="17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3" name="Picture 17" descr="analytics.jpg"/>
          <p:cNvPicPr/>
          <p:nvPr/>
        </p:nvPicPr>
        <p:blipFill>
          <a:blip r:embed="rId1"/>
          <a:stretch/>
        </p:blipFill>
        <p:spPr>
          <a:xfrm>
            <a:off x="8385840" y="2676600"/>
            <a:ext cx="3804840" cy="344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6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9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TextBox 1"/>
          <p:cNvSpPr/>
          <p:nvPr/>
        </p:nvSpPr>
        <p:spPr>
          <a:xfrm>
            <a:off x="685800" y="45720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3 направления работы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1"/>
          <p:cNvSpPr/>
          <p:nvPr/>
        </p:nvSpPr>
        <p:spPr>
          <a:xfrm>
            <a:off x="502920" y="1417320"/>
            <a:ext cx="3610440" cy="4890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10"/>
          <p:cNvSpPr/>
          <p:nvPr/>
        </p:nvSpPr>
        <p:spPr>
          <a:xfrm>
            <a:off x="502920" y="1417320"/>
            <a:ext cx="3610440" cy="50148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TextBox 19"/>
          <p:cNvSpPr/>
          <p:nvPr/>
        </p:nvSpPr>
        <p:spPr>
          <a:xfrm>
            <a:off x="612720" y="1463040"/>
            <a:ext cx="3390840" cy="20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Группа 1 · Данные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5 CSV-таблиц → единый каталог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Исправление опечаток как Т9 и очистка данных от мусора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Выделение характеристик, приведение к единому виду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ounded Rectangle 2"/>
          <p:cNvSpPr/>
          <p:nvPr/>
        </p:nvSpPr>
        <p:spPr>
          <a:xfrm>
            <a:off x="4297680" y="1417320"/>
            <a:ext cx="3610440" cy="4890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12"/>
          <p:cNvSpPr/>
          <p:nvPr/>
        </p:nvSpPr>
        <p:spPr>
          <a:xfrm>
            <a:off x="4297680" y="1417320"/>
            <a:ext cx="3610440" cy="501480"/>
          </a:xfrm>
          <a:prstGeom prst="rect">
            <a:avLst/>
          </a:prstGeom>
          <a:solidFill>
            <a:srgbClr val="0f1c2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TextBox 23"/>
          <p:cNvSpPr/>
          <p:nvPr/>
        </p:nvSpPr>
        <p:spPr>
          <a:xfrm>
            <a:off x="4407480" y="1463040"/>
            <a:ext cx="3390840" cy="233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2 · Поиск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Noto Sans CJK SC"/>
              </a:rPr>
              <a:t>BM25 для поиска точного совпадения по словам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Noto Sans CJK SC"/>
              </a:rPr>
              <a:t>Эмбеддинги </a:t>
            </a: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+ FAISS HNSW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Сравнение запроса и товара по эмбендингам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top-20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8"/>
          <p:cNvSpPr/>
          <p:nvPr/>
        </p:nvSpPr>
        <p:spPr>
          <a:xfrm>
            <a:off x="8092440" y="1417320"/>
            <a:ext cx="3610440" cy="4890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13"/>
          <p:cNvSpPr/>
          <p:nvPr/>
        </p:nvSpPr>
        <p:spPr>
          <a:xfrm>
            <a:off x="8092440" y="1417320"/>
            <a:ext cx="3610440" cy="501480"/>
          </a:xfrm>
          <a:prstGeom prst="rect">
            <a:avLst/>
          </a:prstGeom>
          <a:solidFill>
            <a:srgbClr val="0f1c2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TextBox 24"/>
          <p:cNvSpPr/>
          <p:nvPr/>
        </p:nvSpPr>
        <p:spPr>
          <a:xfrm>
            <a:off x="8202240" y="1463040"/>
            <a:ext cx="3390840" cy="15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3 · Оценка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LLM-судья (0–3) и метрики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nDCG@20, Precision@5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b="0" lang="en-US" sz="14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Золотой стандарт (Kimi K2.6)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Picture 1" descr="modern_interior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137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50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3"/>
          <p:cNvSpPr/>
          <p:nvPr/>
        </p:nvSpPr>
        <p:spPr>
          <a:xfrm>
            <a:off x="0" y="0"/>
            <a:ext cx="18144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Oval 4"/>
          <p:cNvSpPr/>
          <p:nvPr/>
        </p:nvSpPr>
        <p:spPr>
          <a:xfrm>
            <a:off x="502920" y="2377440"/>
            <a:ext cx="1004400" cy="100440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TextBox 5"/>
          <p:cNvSpPr/>
          <p:nvPr/>
        </p:nvSpPr>
        <p:spPr>
          <a:xfrm>
            <a:off x="737640" y="2606040"/>
            <a:ext cx="5349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02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6"/>
          <p:cNvSpPr/>
          <p:nvPr/>
        </p:nvSpPr>
        <p:spPr>
          <a:xfrm>
            <a:off x="1737360" y="2331720"/>
            <a:ext cx="9142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1 · Данные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TextBox 3"/>
          <p:cNvSpPr/>
          <p:nvPr/>
        </p:nvSpPr>
        <p:spPr>
          <a:xfrm>
            <a:off x="451080" y="53316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Очистка и подготовка каталога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40000" y="1620000"/>
            <a:ext cx="5484960" cy="19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5 массивов данных: единые колонки, ID, артикул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Сбор характеристик (тип, цвет, габариты…)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Исправление опечаток и неформальных запросов через LLM-парсер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единый вид полей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" name="" descr=""/>
          <p:cNvPicPr/>
          <p:nvPr/>
        </p:nvPicPr>
        <p:blipFill>
          <a:blip r:embed="rId1"/>
          <a:stretch/>
        </p:blipFill>
        <p:spPr>
          <a:xfrm>
            <a:off x="5796720" y="1284480"/>
            <a:ext cx="6707880" cy="3658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609840" y="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                                    </a:t>
            </a: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Масштаб каталога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ounded Rectangle 5"/>
          <p:cNvSpPr/>
          <p:nvPr/>
        </p:nvSpPr>
        <p:spPr>
          <a:xfrm>
            <a:off x="338040" y="1444320"/>
            <a:ext cx="1643400" cy="3040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469800" y="1806480"/>
            <a:ext cx="1379520" cy="10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200" spc="-1" strike="noStrike">
                <a:solidFill>
                  <a:srgbClr val="d4a53a"/>
                </a:solidFill>
                <a:latin typeface="Times New Roman"/>
                <a:ea typeface="DejaVu Sans"/>
              </a:rPr>
              <a:t>4 894</a:t>
            </a:r>
            <a:endParaRPr b="0" lang="ru-RU" sz="4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b="0" lang="en-US" sz="13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товаров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7"/>
          <p:cNvSpPr/>
          <p:nvPr/>
        </p:nvSpPr>
        <p:spPr>
          <a:xfrm>
            <a:off x="2122560" y="1444320"/>
            <a:ext cx="1643040" cy="3040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2431080" y="1806480"/>
            <a:ext cx="1026000" cy="10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200" spc="-1" strike="noStrike">
                <a:solidFill>
                  <a:srgbClr val="d4a53a"/>
                </a:solidFill>
                <a:latin typeface="Times New Roman"/>
                <a:ea typeface="DejaVu Sans"/>
              </a:rPr>
              <a:t>5</a:t>
            </a:r>
            <a:endParaRPr b="0" lang="ru-RU" sz="4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b="0" lang="en-US" sz="13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таблиц CSV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9"/>
          <p:cNvSpPr/>
          <p:nvPr/>
        </p:nvSpPr>
        <p:spPr>
          <a:xfrm>
            <a:off x="3906720" y="1444320"/>
            <a:ext cx="1643400" cy="3040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e8e4dd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4114440" y="1834920"/>
            <a:ext cx="1283400" cy="10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200" spc="-1" strike="noStrike">
                <a:solidFill>
                  <a:srgbClr val="d4a53a"/>
                </a:solidFill>
                <a:latin typeface="Times New Roman"/>
                <a:ea typeface="DejaVu Sans"/>
              </a:rPr>
              <a:t>100+</a:t>
            </a:r>
            <a:endParaRPr b="0" lang="ru-RU" sz="4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b="0" lang="en-US" sz="13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запросов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5518080" y="730800"/>
            <a:ext cx="7498080" cy="408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23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TextBox 72"/>
          <p:cNvSpPr/>
          <p:nvPr/>
        </p:nvSpPr>
        <p:spPr>
          <a:xfrm>
            <a:off x="609840" y="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                                    </a:t>
            </a: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Парсинг входной строки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2499120" y="1239120"/>
            <a:ext cx="7835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</a:rPr>
              <a:t>Ст</a:t>
            </a:r>
            <a:r>
              <a:rPr b="0" lang="ru-RU" sz="2200" spc="-1" strike="noStrike" u="sng">
                <a:solidFill>
                  <a:srgbClr val="000000"/>
                </a:solidFill>
                <a:highlight>
                  <a:srgbClr val="ffff00"/>
                </a:highlight>
                <a:uFillTx/>
                <a:latin typeface="Arial"/>
              </a:rPr>
              <a:t>0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</a:rPr>
              <a:t>л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ed4c05"/>
                </a:highlight>
                <a:latin typeface="Arial"/>
              </a:rPr>
              <a:t>белый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5983b0"/>
                </a:highlight>
                <a:latin typeface="Arial"/>
              </a:rPr>
              <a:t>«Орхидея»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069a2e"/>
                </a:highlight>
                <a:latin typeface="Arial"/>
              </a:rPr>
              <a:t>160х80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ffa6a6"/>
                </a:highlight>
                <a:latin typeface="Arial"/>
              </a:rPr>
              <a:t>дуб чер</a:t>
            </a:r>
            <a:r>
              <a:rPr b="0" lang="ru-RU" sz="2200" spc="-1" strike="noStrike" u="sng">
                <a:solidFill>
                  <a:srgbClr val="000000"/>
                </a:solidFill>
                <a:highlight>
                  <a:srgbClr val="ffa6a6"/>
                </a:highlight>
                <a:uFillTx/>
                <a:latin typeface="Arial"/>
              </a:rPr>
              <a:t>е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ffa6a6"/>
                </a:highlight>
                <a:latin typeface="Arial"/>
              </a:rPr>
              <a:t>шчатый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5983b0"/>
                </a:highlight>
                <a:latin typeface="Arial"/>
              </a:rPr>
              <a:t>для кухни</a:t>
            </a: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2520720" y="240588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</a:rPr>
              <a:t>    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ключевое слово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098600" y="578808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highlight>
                  <a:srgbClr val="ff4000"/>
                </a:highlight>
                <a:latin typeface="Arial"/>
              </a:rPr>
              <a:t>    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цвет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939360" y="514764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</a:rPr>
              <a:t>    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размер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109760" y="514764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highlight>
                  <a:srgbClr val="ffa6a6"/>
                </a:highlight>
                <a:latin typeface="Arial"/>
              </a:rPr>
              <a:t> 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ffa6a6"/>
                </a:highlight>
                <a:latin typeface="Arial"/>
              </a:rPr>
              <a:t>  </a:t>
            </a:r>
            <a:r>
              <a:rPr b="0" lang="ru-RU" sz="2200" spc="-1" strike="noStrike">
                <a:solidFill>
                  <a:srgbClr val="000000"/>
                </a:solidFill>
                <a:highlight>
                  <a:srgbClr val="ffa6a6"/>
                </a:highlight>
                <a:latin typeface="Arial"/>
              </a:rPr>
              <a:t>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м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т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е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р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и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а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л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966000" y="578808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just"/>
            <a:r>
              <a:rPr b="0" lang="ru-RU" sz="2200" spc="-1" strike="noStrike">
                <a:solidFill>
                  <a:srgbClr val="000000"/>
                </a:solidFill>
                <a:highlight>
                  <a:srgbClr val="2a6099"/>
                </a:highlight>
                <a:latin typeface="Arial"/>
              </a:rPr>
              <a:t>    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остальное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523240" y="3215520"/>
            <a:ext cx="3431160" cy="40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just"/>
            <a:r>
              <a:rPr b="0" lang="ru-RU" sz="2200" spc="-1" strike="noStrike" u="sng">
                <a:solidFill>
                  <a:srgbClr val="000000"/>
                </a:solidFill>
                <a:uFillTx/>
                <a:latin typeface="Arial"/>
              </a:rPr>
              <a:t>     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- ошибки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634360" y="2405880"/>
            <a:ext cx="1290600" cy="646200"/>
          </a:xfrm>
          <a:prstGeom prst="rightArrow">
            <a:avLst>
              <a:gd name="adj1" fmla="val 50000"/>
              <a:gd name="adj2" fmla="val 4993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314120" y="2406240"/>
            <a:ext cx="2601360" cy="45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Д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о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м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е</a:t>
            </a:r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н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 rot="6931800">
            <a:off x="6802560" y="3182760"/>
            <a:ext cx="1186920" cy="737280"/>
          </a:xfrm>
          <a:prstGeom prst="rightArrow">
            <a:avLst>
              <a:gd name="adj1" fmla="val 52855"/>
              <a:gd name="adj2" fmla="val 39673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755320" y="4311720"/>
            <a:ext cx="3441240" cy="41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200" spc="-1" strike="noStrike">
                <a:solidFill>
                  <a:srgbClr val="000000"/>
                </a:solidFill>
                <a:latin typeface="Arial"/>
              </a:rPr>
              <a:t>Характеристики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" descr="ai_tech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170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50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3"/>
          <p:cNvSpPr/>
          <p:nvPr/>
        </p:nvSpPr>
        <p:spPr>
          <a:xfrm>
            <a:off x="0" y="0"/>
            <a:ext cx="18144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Oval 4"/>
          <p:cNvSpPr/>
          <p:nvPr/>
        </p:nvSpPr>
        <p:spPr>
          <a:xfrm>
            <a:off x="502920" y="2377440"/>
            <a:ext cx="1004400" cy="100440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TextBox 5"/>
          <p:cNvSpPr/>
          <p:nvPr/>
        </p:nvSpPr>
        <p:spPr>
          <a:xfrm>
            <a:off x="737640" y="2606040"/>
            <a:ext cx="5349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03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1737360" y="2331720"/>
            <a:ext cx="9142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2 · Поиск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10004040" y="6355080"/>
            <a:ext cx="8384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9aabb"/>
                </a:solidFill>
                <a:latin typeface="Times New Roman"/>
                <a:ea typeface="DejaVu Sans"/>
              </a:rPr>
              <a:t>Фото: Unsplash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614160" y="50292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Сравнение запроса и товаров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5"/>
          <p:cNvSpPr/>
          <p:nvPr/>
        </p:nvSpPr>
        <p:spPr>
          <a:xfrm>
            <a:off x="603000" y="1828800"/>
            <a:ext cx="5484960" cy="43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Нам поступает домен, тип товара и характеристики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Через BAAI/bge-m3 + FAISS находятся товары по смысловой близости → выбираем топ-1000 товаров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Считаем BM25 по совпадению слов и эмбендинги по характеристикам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Каждый признак умножается на свой вес → суммированная final_score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Товары сортируются по final_score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- Пользователь видит топ-20 самых релевантных товаров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Picture 7" descr="ai_tech.jpg"/>
          <p:cNvPicPr/>
          <p:nvPr/>
        </p:nvPicPr>
        <p:blipFill>
          <a:blip r:embed="rId1"/>
          <a:stretch/>
        </p:blipFill>
        <p:spPr>
          <a:xfrm>
            <a:off x="6172200" y="502920"/>
            <a:ext cx="580500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TextBox 2"/>
          <p:cNvSpPr/>
          <p:nvPr/>
        </p:nvSpPr>
        <p:spPr>
          <a:xfrm>
            <a:off x="880560" y="482760"/>
            <a:ext cx="10971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Группа 2: ранжирование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Oval 4"/>
          <p:cNvSpPr/>
          <p:nvPr/>
        </p:nvSpPr>
        <p:spPr>
          <a:xfrm>
            <a:off x="2134080" y="1879920"/>
            <a:ext cx="501480" cy="50148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TextBox 5"/>
          <p:cNvSpPr/>
          <p:nvPr/>
        </p:nvSpPr>
        <p:spPr>
          <a:xfrm>
            <a:off x="2250360" y="195300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6"/>
          <p:cNvSpPr/>
          <p:nvPr/>
        </p:nvSpPr>
        <p:spPr>
          <a:xfrm>
            <a:off x="3108600" y="1818720"/>
            <a:ext cx="10166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Парсер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project.py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7"/>
          <p:cNvSpPr/>
          <p:nvPr/>
        </p:nvSpPr>
        <p:spPr>
          <a:xfrm>
            <a:off x="2335320" y="2410200"/>
            <a:ext cx="35280" cy="455760"/>
          </a:xfrm>
          <a:prstGeom prst="rect">
            <a:avLst/>
          </a:prstGeom>
          <a:solidFill>
            <a:srgbClr val="e8e4d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Oval 8"/>
          <p:cNvSpPr/>
          <p:nvPr/>
        </p:nvSpPr>
        <p:spPr>
          <a:xfrm>
            <a:off x="2134080" y="2840040"/>
            <a:ext cx="501480" cy="501480"/>
          </a:xfrm>
          <a:prstGeom prst="ellipse">
            <a:avLst/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TextBox 9"/>
          <p:cNvSpPr/>
          <p:nvPr/>
        </p:nvSpPr>
        <p:spPr>
          <a:xfrm>
            <a:off x="2250360" y="291312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0"/>
          <p:cNvSpPr/>
          <p:nvPr/>
        </p:nvSpPr>
        <p:spPr>
          <a:xfrm>
            <a:off x="3143160" y="2788920"/>
            <a:ext cx="84456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BM25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текст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ectangle 11"/>
          <p:cNvSpPr/>
          <p:nvPr/>
        </p:nvSpPr>
        <p:spPr>
          <a:xfrm>
            <a:off x="2335320" y="3370320"/>
            <a:ext cx="35280" cy="455760"/>
          </a:xfrm>
          <a:prstGeom prst="rect">
            <a:avLst/>
          </a:prstGeom>
          <a:solidFill>
            <a:srgbClr val="e8e4d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Oval 12"/>
          <p:cNvSpPr/>
          <p:nvPr/>
        </p:nvSpPr>
        <p:spPr>
          <a:xfrm>
            <a:off x="2134080" y="3800160"/>
            <a:ext cx="501480" cy="50148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TextBox 13"/>
          <p:cNvSpPr/>
          <p:nvPr/>
        </p:nvSpPr>
        <p:spPr>
          <a:xfrm>
            <a:off x="2250360" y="387324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4"/>
          <p:cNvSpPr/>
          <p:nvPr/>
        </p:nvSpPr>
        <p:spPr>
          <a:xfrm>
            <a:off x="3124800" y="3749040"/>
            <a:ext cx="88092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FAISS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bge-m3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5"/>
          <p:cNvSpPr/>
          <p:nvPr/>
        </p:nvSpPr>
        <p:spPr>
          <a:xfrm>
            <a:off x="2335320" y="4330440"/>
            <a:ext cx="35280" cy="455760"/>
          </a:xfrm>
          <a:prstGeom prst="rect">
            <a:avLst/>
          </a:prstGeom>
          <a:solidFill>
            <a:srgbClr val="e8e4d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Oval 16"/>
          <p:cNvSpPr/>
          <p:nvPr/>
        </p:nvSpPr>
        <p:spPr>
          <a:xfrm>
            <a:off x="2134080" y="4760280"/>
            <a:ext cx="501480" cy="501480"/>
          </a:xfrm>
          <a:prstGeom prst="ellipse">
            <a:avLst/>
          </a:prstGeom>
          <a:solidFill>
            <a:srgbClr val="1b3a4b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TextBox 17"/>
          <p:cNvSpPr/>
          <p:nvPr/>
        </p:nvSpPr>
        <p:spPr>
          <a:xfrm>
            <a:off x="2250360" y="483336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4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18"/>
          <p:cNvSpPr/>
          <p:nvPr/>
        </p:nvSpPr>
        <p:spPr>
          <a:xfrm>
            <a:off x="2953080" y="4729680"/>
            <a:ext cx="136872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  </a:t>
            </a: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Поля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   </a:t>
            </a: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embedding_score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ectangle 19"/>
          <p:cNvSpPr/>
          <p:nvPr/>
        </p:nvSpPr>
        <p:spPr>
          <a:xfrm>
            <a:off x="2335320" y="5290560"/>
            <a:ext cx="35280" cy="455760"/>
          </a:xfrm>
          <a:prstGeom prst="rect">
            <a:avLst/>
          </a:prstGeom>
          <a:solidFill>
            <a:srgbClr val="e8e4dd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Oval 20"/>
          <p:cNvSpPr/>
          <p:nvPr/>
        </p:nvSpPr>
        <p:spPr>
          <a:xfrm>
            <a:off x="2134080" y="5720400"/>
            <a:ext cx="501480" cy="50148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TextBox 21"/>
          <p:cNvSpPr/>
          <p:nvPr/>
        </p:nvSpPr>
        <p:spPr>
          <a:xfrm>
            <a:off x="2250360" y="5793480"/>
            <a:ext cx="2685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5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22"/>
          <p:cNvSpPr/>
          <p:nvPr/>
        </p:nvSpPr>
        <p:spPr>
          <a:xfrm>
            <a:off x="3098160" y="5760000"/>
            <a:ext cx="93456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Top-20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Picture 24" descr="analytics.jpg"/>
          <p:cNvPicPr/>
          <p:nvPr/>
        </p:nvPicPr>
        <p:blipFill>
          <a:blip r:embed="rId1"/>
          <a:stretch/>
        </p:blipFill>
        <p:spPr>
          <a:xfrm>
            <a:off x="5943600" y="1234440"/>
            <a:ext cx="5987880" cy="5347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2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2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TextBox 70"/>
          <p:cNvSpPr/>
          <p:nvPr/>
        </p:nvSpPr>
        <p:spPr>
          <a:xfrm>
            <a:off x="685800" y="360000"/>
            <a:ext cx="56678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Визуализация разделения 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по кластерам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71"/>
          <p:cNvSpPr/>
          <p:nvPr/>
        </p:nvSpPr>
        <p:spPr>
          <a:xfrm>
            <a:off x="777240" y="1828800"/>
            <a:ext cx="5484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1"/>
          <a:stretch/>
        </p:blipFill>
        <p:spPr>
          <a:xfrm>
            <a:off x="5542200" y="-17640"/>
            <a:ext cx="6648120" cy="685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1" descr="analytics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209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50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3"/>
          <p:cNvSpPr/>
          <p:nvPr/>
        </p:nvSpPr>
        <p:spPr>
          <a:xfrm>
            <a:off x="0" y="0"/>
            <a:ext cx="18144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Oval 4"/>
          <p:cNvSpPr/>
          <p:nvPr/>
        </p:nvSpPr>
        <p:spPr>
          <a:xfrm>
            <a:off x="502920" y="2377440"/>
            <a:ext cx="1004400" cy="100440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TextBox 5"/>
          <p:cNvSpPr/>
          <p:nvPr/>
        </p:nvSpPr>
        <p:spPr>
          <a:xfrm>
            <a:off x="737640" y="2606040"/>
            <a:ext cx="5349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04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6"/>
          <p:cNvSpPr/>
          <p:nvPr/>
        </p:nvSpPr>
        <p:spPr>
          <a:xfrm>
            <a:off x="1737360" y="2331720"/>
            <a:ext cx="9142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Группа 3 · Оценка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7"/>
          <p:cNvSpPr/>
          <p:nvPr/>
        </p:nvSpPr>
        <p:spPr>
          <a:xfrm>
            <a:off x="10004040" y="6355080"/>
            <a:ext cx="8384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9aabb"/>
                </a:solidFill>
                <a:latin typeface="Times New Roman"/>
                <a:ea typeface="DejaVu Sans"/>
              </a:rPr>
              <a:t>Фото: Unsplash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8"/>
          <p:cNvSpPr/>
          <p:nvPr/>
        </p:nvSpPr>
        <p:spPr>
          <a:xfrm>
            <a:off x="4776120" y="6419160"/>
            <a:ext cx="2607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Оценка поиска мебели · ann + evaluation  ·  13 / 23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TextBox 3"/>
          <p:cNvSpPr/>
          <p:nvPr/>
        </p:nvSpPr>
        <p:spPr>
          <a:xfrm>
            <a:off x="685800" y="50292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Семантическая оценка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2407680" y="1097280"/>
            <a:ext cx="20408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gpt-oss-120b · HydraGPT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777240" y="1828800"/>
            <a:ext cx="548496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Попарно: запрос + карточка товара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Ответ: объяснение + score 0–3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Записывать в кэш оценки 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1" name="Picture 7" descr="ai_tech.jpg"/>
          <p:cNvPicPr/>
          <p:nvPr/>
        </p:nvPicPr>
        <p:blipFill>
          <a:blip r:embed="rId1"/>
          <a:stretch/>
        </p:blipFill>
        <p:spPr>
          <a:xfrm>
            <a:off x="6172200" y="502920"/>
            <a:ext cx="580500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16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17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1"/>
          <a:stretch/>
        </p:blipFill>
        <p:spPr>
          <a:xfrm>
            <a:off x="-360" y="-360"/>
            <a:ext cx="12190680" cy="685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TextBox 2"/>
          <p:cNvSpPr/>
          <p:nvPr/>
        </p:nvSpPr>
        <p:spPr>
          <a:xfrm>
            <a:off x="685800" y="502920"/>
            <a:ext cx="5484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Шкала LLM-судьи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ounded Rectangle 3"/>
          <p:cNvSpPr/>
          <p:nvPr/>
        </p:nvSpPr>
        <p:spPr>
          <a:xfrm>
            <a:off x="777240" y="1554480"/>
            <a:ext cx="592920" cy="592920"/>
          </a:xfrm>
          <a:prstGeom prst="roundRect">
            <a:avLst>
              <a:gd name="adj" fmla="val 16667"/>
            </a:avLst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914400" y="1664280"/>
            <a:ext cx="3186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3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5"/>
          <p:cNvSpPr/>
          <p:nvPr/>
        </p:nvSpPr>
        <p:spPr>
          <a:xfrm>
            <a:off x="2598120" y="1554480"/>
            <a:ext cx="230004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Отличное совпадение</a:t>
            </a:r>
            <a:endParaRPr b="0" lang="ru-RU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≤</a:t>
            </a: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1 отличие по характеристикам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ounded Rectangle 6"/>
          <p:cNvSpPr/>
          <p:nvPr/>
        </p:nvSpPr>
        <p:spPr>
          <a:xfrm>
            <a:off x="777240" y="2606040"/>
            <a:ext cx="592920" cy="592920"/>
          </a:xfrm>
          <a:prstGeom prst="roundRect">
            <a:avLst>
              <a:gd name="adj" fmla="val 16667"/>
            </a:avLst>
          </a:prstGeom>
          <a:solidFill>
            <a:srgbClr val="0f1c2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TextBox 7"/>
          <p:cNvSpPr/>
          <p:nvPr/>
        </p:nvSpPr>
        <p:spPr>
          <a:xfrm>
            <a:off x="914400" y="2715840"/>
            <a:ext cx="3186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2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3227760" y="2606040"/>
            <a:ext cx="104112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Хорошее</a:t>
            </a:r>
            <a:endParaRPr b="0" lang="ru-RU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≤</a:t>
            </a: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2 отличия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ounded Rectangle 9"/>
          <p:cNvSpPr/>
          <p:nvPr/>
        </p:nvSpPr>
        <p:spPr>
          <a:xfrm>
            <a:off x="777240" y="3657600"/>
            <a:ext cx="592920" cy="592920"/>
          </a:xfrm>
          <a:prstGeom prst="roundRect">
            <a:avLst>
              <a:gd name="adj" fmla="val 16667"/>
            </a:avLst>
          </a:prstGeom>
          <a:solidFill>
            <a:srgbClr val="0f1c2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TextBox 10"/>
          <p:cNvSpPr/>
          <p:nvPr/>
        </p:nvSpPr>
        <p:spPr>
          <a:xfrm>
            <a:off x="914400" y="3767400"/>
            <a:ext cx="3186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1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1"/>
          <p:cNvSpPr/>
          <p:nvPr/>
        </p:nvSpPr>
        <p:spPr>
          <a:xfrm>
            <a:off x="3023640" y="3657600"/>
            <a:ext cx="144936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Частичное</a:t>
            </a:r>
            <a:endParaRPr b="0" lang="ru-RU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смежные категории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ounded Rectangle 12"/>
          <p:cNvSpPr/>
          <p:nvPr/>
        </p:nvSpPr>
        <p:spPr>
          <a:xfrm>
            <a:off x="777240" y="4709160"/>
            <a:ext cx="592920" cy="592920"/>
          </a:xfrm>
          <a:prstGeom prst="roundRect">
            <a:avLst>
              <a:gd name="adj" fmla="val 16667"/>
            </a:avLst>
          </a:prstGeom>
          <a:solidFill>
            <a:srgbClr val="0f1c2e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TextBox 13"/>
          <p:cNvSpPr/>
          <p:nvPr/>
        </p:nvSpPr>
        <p:spPr>
          <a:xfrm>
            <a:off x="914400" y="4818960"/>
            <a:ext cx="31860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0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14"/>
          <p:cNvSpPr/>
          <p:nvPr/>
        </p:nvSpPr>
        <p:spPr>
          <a:xfrm>
            <a:off x="3218400" y="4709160"/>
            <a:ext cx="105948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Мусор</a:t>
            </a:r>
            <a:endParaRPr b="0" lang="ru-RU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нерелевантно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16" descr="catalog_sofa.jpg"/>
          <p:cNvPicPr/>
          <p:nvPr/>
        </p:nvPicPr>
        <p:blipFill>
          <a:blip r:embed="rId1"/>
          <a:stretch/>
        </p:blipFill>
        <p:spPr>
          <a:xfrm>
            <a:off x="6035040" y="822960"/>
            <a:ext cx="5850720" cy="5667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685800" y="548640"/>
            <a:ext cx="548496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nDCG@20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720000" y="1554480"/>
            <a:ext cx="384372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sᵢ – оценки от llm-судьи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DCG = Σ sᵢ / log₂(i+1)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nDCG = DCG / IDCG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Чувствителен к позиции в выдаче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3" name="Picture 5" descr="analytics.jpg"/>
          <p:cNvPicPr/>
          <p:nvPr/>
        </p:nvPicPr>
        <p:blipFill>
          <a:blip r:embed="rId1"/>
          <a:stretch/>
        </p:blipFill>
        <p:spPr>
          <a:xfrm>
            <a:off x="5943600" y="594360"/>
            <a:ext cx="5987880" cy="5942160"/>
          </a:xfrm>
          <a:prstGeom prst="rect">
            <a:avLst/>
          </a:prstGeom>
          <a:ln w="0">
            <a:noFill/>
          </a:ln>
        </p:spPr>
      </p:pic>
      <p:sp>
        <p:nvSpPr>
          <p:cNvPr id="244" name="TextBox 6"/>
          <p:cNvSpPr/>
          <p:nvPr/>
        </p:nvSpPr>
        <p:spPr>
          <a:xfrm>
            <a:off x="10004040" y="6355080"/>
            <a:ext cx="8384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9aabb"/>
                </a:solidFill>
                <a:latin typeface="Times New Roman"/>
                <a:ea typeface="DejaVu Sans"/>
              </a:rPr>
              <a:t>Фото: Unsplash</a:t>
            </a:r>
            <a:endParaRPr b="0" lang="ru-RU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TextBox 2"/>
          <p:cNvSpPr/>
          <p:nvPr/>
        </p:nvSpPr>
        <p:spPr>
          <a:xfrm>
            <a:off x="685800" y="548640"/>
            <a:ext cx="548496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Precision@5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3"/>
          <p:cNvSpPr/>
          <p:nvPr/>
        </p:nvSpPr>
        <p:spPr>
          <a:xfrm>
            <a:off x="720000" y="1620000"/>
            <a:ext cx="3669840" cy="14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P@5 = (релевантных в топ-5) / 5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Качество первого экрана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Дополняет nDCG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8" name="Picture 5" descr="search.jpg"/>
          <p:cNvPicPr/>
          <p:nvPr/>
        </p:nvPicPr>
        <p:blipFill>
          <a:blip r:embed="rId1"/>
          <a:stretch/>
        </p:blipFill>
        <p:spPr>
          <a:xfrm>
            <a:off x="5943600" y="594360"/>
            <a:ext cx="598788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4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TextBox 73"/>
          <p:cNvSpPr/>
          <p:nvPr/>
        </p:nvSpPr>
        <p:spPr>
          <a:xfrm>
            <a:off x="685800" y="548640"/>
            <a:ext cx="548496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0d99a"/>
                </a:solidFill>
                <a:latin typeface="Times New Roman"/>
                <a:ea typeface="DejaVu Sans"/>
              </a:rPr>
              <a:t>Precision@5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74"/>
          <p:cNvSpPr/>
          <p:nvPr/>
        </p:nvSpPr>
        <p:spPr>
          <a:xfrm>
            <a:off x="720000" y="1620000"/>
            <a:ext cx="3669840" cy="14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P@5 = (релевантных в топ-5) / 5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Качество первого экрана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b="0" lang="en-US" sz="2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Дополняет nDCG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2" name="Picture 2" descr="search.jpg"/>
          <p:cNvPicPr/>
          <p:nvPr/>
        </p:nvPicPr>
        <p:blipFill>
          <a:blip r:embed="rId1"/>
          <a:stretch/>
        </p:blipFill>
        <p:spPr>
          <a:xfrm>
            <a:off x="5943600" y="594360"/>
            <a:ext cx="5987880" cy="5942160"/>
          </a:xfrm>
          <a:prstGeom prst="rect">
            <a:avLst/>
          </a:prstGeom>
          <a:ln w="0">
            <a:noFill/>
          </a:ln>
        </p:spPr>
      </p:pic>
      <p:pic>
        <p:nvPicPr>
          <p:cNvPr id="253" name="" descr=""/>
          <p:cNvPicPr/>
          <p:nvPr/>
        </p:nvPicPr>
        <p:blipFill>
          <a:blip r:embed="rId2"/>
          <a:stretch/>
        </p:blipFill>
        <p:spPr>
          <a:xfrm>
            <a:off x="0" y="145800"/>
            <a:ext cx="1219176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Picture 1" descr="bedroom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255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50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3"/>
          <p:cNvSpPr/>
          <p:nvPr/>
        </p:nvSpPr>
        <p:spPr>
          <a:xfrm>
            <a:off x="0" y="0"/>
            <a:ext cx="18144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Oval 4"/>
          <p:cNvSpPr/>
          <p:nvPr/>
        </p:nvSpPr>
        <p:spPr>
          <a:xfrm>
            <a:off x="502920" y="2377440"/>
            <a:ext cx="1004400" cy="1004400"/>
          </a:xfrm>
          <a:prstGeom prst="ellipse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737640" y="2606040"/>
            <a:ext cx="5349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05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6"/>
          <p:cNvSpPr/>
          <p:nvPr/>
        </p:nvSpPr>
        <p:spPr>
          <a:xfrm>
            <a:off x="1737360" y="2331720"/>
            <a:ext cx="9142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Эталон и выводы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8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0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TextBox 68"/>
          <p:cNvSpPr/>
          <p:nvPr/>
        </p:nvSpPr>
        <p:spPr>
          <a:xfrm>
            <a:off x="685800" y="50292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Gold dataset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69"/>
          <p:cNvSpPr/>
          <p:nvPr/>
        </p:nvSpPr>
        <p:spPr>
          <a:xfrm>
            <a:off x="777240" y="1828800"/>
            <a:ext cx="548496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smart_gold_standard — 15 запросов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overnight — 200 × 40 товаров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Визуальные отчёты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-360" y="-360"/>
            <a:ext cx="12190680" cy="685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TextBox 3"/>
          <p:cNvSpPr/>
          <p:nvPr/>
        </p:nvSpPr>
        <p:spPr>
          <a:xfrm>
            <a:off x="685800" y="50292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Пример запроса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4"/>
          <p:cNvSpPr/>
          <p:nvPr/>
        </p:nvSpPr>
        <p:spPr>
          <a:xfrm>
            <a:off x="807120" y="1260000"/>
            <a:ext cx="1711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6b7b8c"/>
                </a:solidFill>
                <a:latin typeface="Times New Roman"/>
                <a:ea typeface="DejaVu Sans"/>
              </a:rPr>
              <a:t>«белая кровать 160»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5"/>
          <p:cNvSpPr/>
          <p:nvPr/>
        </p:nvSpPr>
        <p:spPr>
          <a:xfrm>
            <a:off x="777240" y="1828800"/>
            <a:ext cx="548496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s5_582 — Кровать-карета, 160×200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s1_386 — Кровать Орхидея, белый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s5_16 — Кровать-карета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0" name="Picture 7" descr="bedroom.jpg"/>
          <p:cNvPicPr/>
          <p:nvPr/>
        </p:nvPicPr>
        <p:blipFill>
          <a:blip r:embed="rId1"/>
          <a:stretch/>
        </p:blipFill>
        <p:spPr>
          <a:xfrm>
            <a:off x="6172200" y="502920"/>
            <a:ext cx="580500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1"/>
          <p:cNvSpPr/>
          <p:nvPr/>
        </p:nvSpPr>
        <p:spPr>
          <a:xfrm>
            <a:off x="0" y="0"/>
            <a:ext cx="126720" cy="685656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2"/>
          <p:cNvSpPr/>
          <p:nvPr/>
        </p:nvSpPr>
        <p:spPr>
          <a:xfrm>
            <a:off x="0" y="0"/>
            <a:ext cx="12190320" cy="6264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TextBox 3"/>
          <p:cNvSpPr/>
          <p:nvPr/>
        </p:nvSpPr>
        <p:spPr>
          <a:xfrm>
            <a:off x="685800" y="502920"/>
            <a:ext cx="566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f1c2e"/>
                </a:solidFill>
                <a:latin typeface="Times New Roman"/>
                <a:ea typeface="DejaVu Sans"/>
              </a:rPr>
              <a:t>Выводы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4"/>
          <p:cNvSpPr/>
          <p:nvPr/>
        </p:nvSpPr>
        <p:spPr>
          <a:xfrm>
            <a:off x="777240" y="1828800"/>
            <a:ext cx="548496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Группа 1: чистые данные и структура запроса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Группа 2: семантический поиск на эмбеддингах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900" spc="-1" strike="noStrike">
                <a:solidFill>
                  <a:srgbClr val="2a2a2a"/>
                </a:solidFill>
                <a:latin typeface="Times New Roman"/>
                <a:ea typeface="DejaVu Sans"/>
              </a:rPr>
              <a:t>Группа 3: метрики и золотой стандарт</a:t>
            </a:r>
            <a:endParaRPr b="0" lang="ru-RU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" name="Picture 6" descr="title_furniture.jpg"/>
          <p:cNvPicPr/>
          <p:nvPr/>
        </p:nvPicPr>
        <p:blipFill>
          <a:blip r:embed="rId1"/>
          <a:stretch/>
        </p:blipFill>
        <p:spPr>
          <a:xfrm>
            <a:off x="6172200" y="502920"/>
            <a:ext cx="5805000" cy="594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Picture 1" descr="living_room.jpg"/>
          <p:cNvPicPr/>
          <p:nvPr/>
        </p:nvPicPr>
        <p:blipFill>
          <a:blip r:embed="rId1"/>
          <a:stretch/>
        </p:blipFill>
        <p:spPr>
          <a:xfrm>
            <a:off x="0" y="0"/>
            <a:ext cx="12190320" cy="6856560"/>
          </a:xfrm>
          <a:prstGeom prst="rect">
            <a:avLst/>
          </a:prstGeom>
          <a:ln w="0">
            <a:noFill/>
          </a:ln>
        </p:spPr>
      </p:pic>
      <p:sp>
        <p:nvSpPr>
          <p:cNvPr id="277" name="Rectangl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f1c2e">
              <a:alpha val="32000"/>
            </a:srgbClr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"/>
          <p:cNvSpPr/>
          <p:nvPr/>
        </p:nvSpPr>
        <p:spPr>
          <a:xfrm>
            <a:off x="0" y="0"/>
            <a:ext cx="12190320" cy="90000"/>
          </a:xfrm>
          <a:prstGeom prst="rect">
            <a:avLst/>
          </a:prstGeom>
          <a:solidFill>
            <a:srgbClr val="d4a53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TextBox 4"/>
          <p:cNvSpPr/>
          <p:nvPr/>
        </p:nvSpPr>
        <p:spPr>
          <a:xfrm>
            <a:off x="3207600" y="2651760"/>
            <a:ext cx="5774760" cy="13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Спасибо за внимание!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199"/>
              </a:spcBef>
            </a:pPr>
            <a:r>
              <a:rPr b="0" lang="en-US" sz="2800" spc="-1" strike="noStrike">
                <a:solidFill>
                  <a:srgbClr val="d4a53a"/>
                </a:solidFill>
                <a:latin typeface="Times New Roman"/>
                <a:ea typeface="DejaVu Sans"/>
              </a:rPr>
              <a:t>Вопросы?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2026-05-25T15:28:50Z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